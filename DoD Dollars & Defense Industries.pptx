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0"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79"/>
    <p:restoredTop sz="94610"/>
  </p:normalViewPr>
  <p:slideViewPr>
    <p:cSldViewPr snapToGrid="0" snapToObjects="1">
      <p:cViewPr varScale="1">
        <p:scale>
          <a:sx n="108" d="100"/>
          <a:sy n="108" d="100"/>
        </p:scale>
        <p:origin x="232" y="1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Massa" userId="8efb8a0e1b13d44c" providerId="LiveId" clId="{3ACF9128-E840-5959-BFC4-4A4B832DEB41}"/>
    <pc:docChg chg="undo custSel addSld modSld">
      <pc:chgData name="Andrew Massa" userId="8efb8a0e1b13d44c" providerId="LiveId" clId="{3ACF9128-E840-5959-BFC4-4A4B832DEB41}" dt="2026-10-22T15:43:53.886" v="314" actId="1076"/>
      <pc:docMkLst>
        <pc:docMk/>
      </pc:docMkLst>
      <pc:sldChg chg="modSp mod">
        <pc:chgData name="Andrew Massa" userId="8efb8a0e1b13d44c" providerId="LiveId" clId="{3ACF9128-E840-5959-BFC4-4A4B832DEB41}" dt="2026-10-22T13:45:15.819" v="71" actId="20577"/>
        <pc:sldMkLst>
          <pc:docMk/>
          <pc:sldMk cId="0" sldId="256"/>
        </pc:sldMkLst>
        <pc:spChg chg="mod">
          <ac:chgData name="Andrew Massa" userId="8efb8a0e1b13d44c" providerId="LiveId" clId="{3ACF9128-E840-5959-BFC4-4A4B832DEB41}" dt="2026-10-22T13:45:15.819" v="71" actId="20577"/>
          <ac:spMkLst>
            <pc:docMk/>
            <pc:sldMk cId="0" sldId="256"/>
            <ac:spMk id="5" creationId="{00000000-0000-0000-0000-000000000000}"/>
          </ac:spMkLst>
        </pc:spChg>
      </pc:sldChg>
      <pc:sldChg chg="delSp modSp mod">
        <pc:chgData name="Andrew Massa" userId="8efb8a0e1b13d44c" providerId="LiveId" clId="{3ACF9128-E840-5959-BFC4-4A4B832DEB41}" dt="2026-10-22T14:51:07.974" v="150" actId="478"/>
        <pc:sldMkLst>
          <pc:docMk/>
          <pc:sldMk cId="0" sldId="264"/>
        </pc:sldMkLst>
        <pc:spChg chg="mod">
          <ac:chgData name="Andrew Massa" userId="8efb8a0e1b13d44c" providerId="LiveId" clId="{3ACF9128-E840-5959-BFC4-4A4B832DEB41}" dt="2026-10-22T14:50:39.259" v="139" actId="20577"/>
          <ac:spMkLst>
            <pc:docMk/>
            <pc:sldMk cId="0" sldId="264"/>
            <ac:spMk id="5" creationId="{00000000-0000-0000-0000-000000000000}"/>
          </ac:spMkLst>
        </pc:spChg>
        <pc:spChg chg="mod">
          <ac:chgData name="Andrew Massa" userId="8efb8a0e1b13d44c" providerId="LiveId" clId="{3ACF9128-E840-5959-BFC4-4A4B832DEB41}" dt="2026-10-22T14:50:15.736" v="128" actId="27636"/>
          <ac:spMkLst>
            <pc:docMk/>
            <pc:sldMk cId="0" sldId="264"/>
            <ac:spMk id="6" creationId="{00000000-0000-0000-0000-000000000000}"/>
          </ac:spMkLst>
        </pc:spChg>
        <pc:spChg chg="mod">
          <ac:chgData name="Andrew Massa" userId="8efb8a0e1b13d44c" providerId="LiveId" clId="{3ACF9128-E840-5959-BFC4-4A4B832DEB41}" dt="2026-10-22T14:50:43.415" v="144" actId="20577"/>
          <ac:spMkLst>
            <pc:docMk/>
            <pc:sldMk cId="0" sldId="264"/>
            <ac:spMk id="8" creationId="{00000000-0000-0000-0000-000000000000}"/>
          </ac:spMkLst>
        </pc:spChg>
        <pc:spChg chg="mod">
          <ac:chgData name="Andrew Massa" userId="8efb8a0e1b13d44c" providerId="LiveId" clId="{3ACF9128-E840-5959-BFC4-4A4B832DEB41}" dt="2026-10-22T14:50:22.928" v="130" actId="27636"/>
          <ac:spMkLst>
            <pc:docMk/>
            <pc:sldMk cId="0" sldId="264"/>
            <ac:spMk id="9" creationId="{00000000-0000-0000-0000-000000000000}"/>
          </ac:spMkLst>
        </pc:spChg>
        <pc:spChg chg="mod">
          <ac:chgData name="Andrew Massa" userId="8efb8a0e1b13d44c" providerId="LiveId" clId="{3ACF9128-E840-5959-BFC4-4A4B832DEB41}" dt="2026-10-22T14:50:28.235" v="132" actId="27636"/>
          <ac:spMkLst>
            <pc:docMk/>
            <pc:sldMk cId="0" sldId="264"/>
            <ac:spMk id="12" creationId="{00000000-0000-0000-0000-000000000000}"/>
          </ac:spMkLst>
        </pc:spChg>
        <pc:spChg chg="mod">
          <ac:chgData name="Andrew Massa" userId="8efb8a0e1b13d44c" providerId="LiveId" clId="{3ACF9128-E840-5959-BFC4-4A4B832DEB41}" dt="2026-10-22T14:50:50.645" v="149" actId="20577"/>
          <ac:spMkLst>
            <pc:docMk/>
            <pc:sldMk cId="0" sldId="264"/>
            <ac:spMk id="14" creationId="{00000000-0000-0000-0000-000000000000}"/>
          </ac:spMkLst>
        </pc:spChg>
        <pc:spChg chg="mod">
          <ac:chgData name="Andrew Massa" userId="8efb8a0e1b13d44c" providerId="LiveId" clId="{3ACF9128-E840-5959-BFC4-4A4B832DEB41}" dt="2026-10-22T14:50:32.442" v="134" actId="27636"/>
          <ac:spMkLst>
            <pc:docMk/>
            <pc:sldMk cId="0" sldId="264"/>
            <ac:spMk id="15" creationId="{00000000-0000-0000-0000-000000000000}"/>
          </ac:spMkLst>
        </pc:spChg>
        <pc:spChg chg="del">
          <ac:chgData name="Andrew Massa" userId="8efb8a0e1b13d44c" providerId="LiveId" clId="{3ACF9128-E840-5959-BFC4-4A4B832DEB41}" dt="2026-10-22T14:51:07.974" v="150" actId="478"/>
          <ac:spMkLst>
            <pc:docMk/>
            <pc:sldMk cId="0" sldId="264"/>
            <ac:spMk id="16" creationId="{00000000-0000-0000-0000-000000000000}"/>
          </ac:spMkLst>
        </pc:spChg>
      </pc:sldChg>
      <pc:sldChg chg="addSp delSp modSp mod">
        <pc:chgData name="Andrew Massa" userId="8efb8a0e1b13d44c" providerId="LiveId" clId="{3ACF9128-E840-5959-BFC4-4A4B832DEB41}" dt="2026-10-22T15:38:00.675" v="211" actId="478"/>
        <pc:sldMkLst>
          <pc:docMk/>
          <pc:sldMk cId="0" sldId="268"/>
        </pc:sldMkLst>
        <pc:spChg chg="del">
          <ac:chgData name="Andrew Massa" userId="8efb8a0e1b13d44c" providerId="LiveId" clId="{3ACF9128-E840-5959-BFC4-4A4B832DEB41}" dt="2026-10-22T15:37:11.337" v="201" actId="478"/>
          <ac:spMkLst>
            <pc:docMk/>
            <pc:sldMk cId="0" sldId="268"/>
            <ac:spMk id="7" creationId="{00000000-0000-0000-0000-000000000000}"/>
          </ac:spMkLst>
        </pc:spChg>
        <pc:spChg chg="del mod">
          <ac:chgData name="Andrew Massa" userId="8efb8a0e1b13d44c" providerId="LiveId" clId="{3ACF9128-E840-5959-BFC4-4A4B832DEB41}" dt="2026-10-22T15:37:15.284" v="203" actId="478"/>
          <ac:spMkLst>
            <pc:docMk/>
            <pc:sldMk cId="0" sldId="268"/>
            <ac:spMk id="8" creationId="{00000000-0000-0000-0000-000000000000}"/>
          </ac:spMkLst>
        </pc:spChg>
        <pc:spChg chg="del mod">
          <ac:chgData name="Andrew Massa" userId="8efb8a0e1b13d44c" providerId="LiveId" clId="{3ACF9128-E840-5959-BFC4-4A4B832DEB41}" dt="2026-10-22T15:37:17.139" v="204" actId="478"/>
          <ac:spMkLst>
            <pc:docMk/>
            <pc:sldMk cId="0" sldId="268"/>
            <ac:spMk id="9" creationId="{00000000-0000-0000-0000-000000000000}"/>
          </ac:spMkLst>
        </pc:spChg>
        <pc:spChg chg="mod">
          <ac:chgData name="Andrew Massa" userId="8efb8a0e1b13d44c" providerId="LiveId" clId="{3ACF9128-E840-5959-BFC4-4A4B832DEB41}" dt="2026-10-22T15:37:24.512" v="205" actId="1076"/>
          <ac:spMkLst>
            <pc:docMk/>
            <pc:sldMk cId="0" sldId="268"/>
            <ac:spMk id="10" creationId="{00000000-0000-0000-0000-000000000000}"/>
          </ac:spMkLst>
        </pc:spChg>
        <pc:spChg chg="mod">
          <ac:chgData name="Andrew Massa" userId="8efb8a0e1b13d44c" providerId="LiveId" clId="{3ACF9128-E840-5959-BFC4-4A4B832DEB41}" dt="2026-10-22T15:37:29.298" v="206" actId="1076"/>
          <ac:spMkLst>
            <pc:docMk/>
            <pc:sldMk cId="0" sldId="268"/>
            <ac:spMk id="11" creationId="{00000000-0000-0000-0000-000000000000}"/>
          </ac:spMkLst>
        </pc:spChg>
        <pc:spChg chg="mod">
          <ac:chgData name="Andrew Massa" userId="8efb8a0e1b13d44c" providerId="LiveId" clId="{3ACF9128-E840-5959-BFC4-4A4B832DEB41}" dt="2026-10-22T15:37:32.644" v="207" actId="1076"/>
          <ac:spMkLst>
            <pc:docMk/>
            <pc:sldMk cId="0" sldId="268"/>
            <ac:spMk id="12" creationId="{00000000-0000-0000-0000-000000000000}"/>
          </ac:spMkLst>
        </pc:spChg>
        <pc:spChg chg="mod">
          <ac:chgData name="Andrew Massa" userId="8efb8a0e1b13d44c" providerId="LiveId" clId="{3ACF9128-E840-5959-BFC4-4A4B832DEB41}" dt="2026-10-22T15:37:45.980" v="208" actId="1076"/>
          <ac:spMkLst>
            <pc:docMk/>
            <pc:sldMk cId="0" sldId="268"/>
            <ac:spMk id="13" creationId="{00000000-0000-0000-0000-000000000000}"/>
          </ac:spMkLst>
        </pc:spChg>
        <pc:spChg chg="del">
          <ac:chgData name="Andrew Massa" userId="8efb8a0e1b13d44c" providerId="LiveId" clId="{3ACF9128-E840-5959-BFC4-4A4B832DEB41}" dt="2026-10-22T15:38:00.675" v="211" actId="478"/>
          <ac:spMkLst>
            <pc:docMk/>
            <pc:sldMk cId="0" sldId="268"/>
            <ac:spMk id="14" creationId="{00000000-0000-0000-0000-000000000000}"/>
          </ac:spMkLst>
        </pc:spChg>
        <pc:spChg chg="mod">
          <ac:chgData name="Andrew Massa" userId="8efb8a0e1b13d44c" providerId="LiveId" clId="{3ACF9128-E840-5959-BFC4-4A4B832DEB41}" dt="2026-10-22T15:37:57.693" v="210" actId="1076"/>
          <ac:spMkLst>
            <pc:docMk/>
            <pc:sldMk cId="0" sldId="268"/>
            <ac:spMk id="15" creationId="{00000000-0000-0000-0000-000000000000}"/>
          </ac:spMkLst>
        </pc:spChg>
        <pc:spChg chg="add mod">
          <ac:chgData name="Andrew Massa" userId="8efb8a0e1b13d44c" providerId="LiveId" clId="{3ACF9128-E840-5959-BFC4-4A4B832DEB41}" dt="2026-10-22T15:37:51.067" v="209" actId="571"/>
          <ac:spMkLst>
            <pc:docMk/>
            <pc:sldMk cId="0" sldId="268"/>
            <ac:spMk id="17" creationId="{C2801DC5-504D-7393-3EFA-23418780BD4A}"/>
          </ac:spMkLst>
        </pc:spChg>
      </pc:sldChg>
      <pc:sldChg chg="modSp mod">
        <pc:chgData name="Andrew Massa" userId="8efb8a0e1b13d44c" providerId="LiveId" clId="{3ACF9128-E840-5959-BFC4-4A4B832DEB41}" dt="2026-10-22T15:19:19.803" v="200" actId="20577"/>
        <pc:sldMkLst>
          <pc:docMk/>
          <pc:sldMk cId="0" sldId="269"/>
        </pc:sldMkLst>
        <pc:spChg chg="mod">
          <ac:chgData name="Andrew Massa" userId="8efb8a0e1b13d44c" providerId="LiveId" clId="{3ACF9128-E840-5959-BFC4-4A4B832DEB41}" dt="2026-10-22T15:19:19.803" v="200" actId="20577"/>
          <ac:spMkLst>
            <pc:docMk/>
            <pc:sldMk cId="0" sldId="269"/>
            <ac:spMk id="6" creationId="{00000000-0000-0000-0000-000000000000}"/>
          </ac:spMkLst>
        </pc:spChg>
        <pc:spChg chg="mod">
          <ac:chgData name="Andrew Massa" userId="8efb8a0e1b13d44c" providerId="LiveId" clId="{3ACF9128-E840-5959-BFC4-4A4B832DEB41}" dt="2026-10-22T14:21:59.716" v="104" actId="20577"/>
          <ac:spMkLst>
            <pc:docMk/>
            <pc:sldMk cId="0" sldId="269"/>
            <ac:spMk id="9" creationId="{00000000-0000-0000-0000-000000000000}"/>
          </ac:spMkLst>
        </pc:spChg>
        <pc:spChg chg="mod">
          <ac:chgData name="Andrew Massa" userId="8efb8a0e1b13d44c" providerId="LiveId" clId="{3ACF9128-E840-5959-BFC4-4A4B832DEB41}" dt="2026-10-22T14:22:35.486" v="114" actId="20577"/>
          <ac:spMkLst>
            <pc:docMk/>
            <pc:sldMk cId="0" sldId="269"/>
            <ac:spMk id="12" creationId="{00000000-0000-0000-0000-000000000000}"/>
          </ac:spMkLst>
        </pc:spChg>
      </pc:sldChg>
      <pc:sldChg chg="addSp delSp modSp new mod">
        <pc:chgData name="Andrew Massa" userId="8efb8a0e1b13d44c" providerId="LiveId" clId="{3ACF9128-E840-5959-BFC4-4A4B832DEB41}" dt="2026-10-22T15:43:53.886" v="314" actId="1076"/>
        <pc:sldMkLst>
          <pc:docMk/>
          <pc:sldMk cId="3353641438" sldId="270"/>
        </pc:sldMkLst>
        <pc:spChg chg="del">
          <ac:chgData name="Andrew Massa" userId="8efb8a0e1b13d44c" providerId="LiveId" clId="{3ACF9128-E840-5959-BFC4-4A4B832DEB41}" dt="2026-10-22T15:39:35.362" v="213" actId="478"/>
          <ac:spMkLst>
            <pc:docMk/>
            <pc:sldMk cId="3353641438" sldId="270"/>
            <ac:spMk id="2" creationId="{7D9E9ABD-63D7-3A04-9F28-C3B7A7153455}"/>
          </ac:spMkLst>
        </pc:spChg>
        <pc:spChg chg="del">
          <ac:chgData name="Andrew Massa" userId="8efb8a0e1b13d44c" providerId="LiveId" clId="{3ACF9128-E840-5959-BFC4-4A4B832DEB41}" dt="2026-10-22T15:39:36.896" v="214" actId="478"/>
          <ac:spMkLst>
            <pc:docMk/>
            <pc:sldMk cId="3353641438" sldId="270"/>
            <ac:spMk id="3" creationId="{331DBD9F-1A18-CE52-D75B-50F55C99A2A4}"/>
          </ac:spMkLst>
        </pc:spChg>
        <pc:spChg chg="add mod">
          <ac:chgData name="Andrew Massa" userId="8efb8a0e1b13d44c" providerId="LiveId" clId="{3ACF9128-E840-5959-BFC4-4A4B832DEB41}" dt="2026-10-22T15:42:28.944" v="297" actId="20577"/>
          <ac:spMkLst>
            <pc:docMk/>
            <pc:sldMk cId="3353641438" sldId="270"/>
            <ac:spMk id="5" creationId="{554C74CF-CB92-EEB6-8DF5-023F684824AA}"/>
          </ac:spMkLst>
        </pc:spChg>
        <pc:spChg chg="add mod">
          <ac:chgData name="Andrew Massa" userId="8efb8a0e1b13d44c" providerId="LiveId" clId="{3ACF9128-E840-5959-BFC4-4A4B832DEB41}" dt="2026-10-22T15:42:23.773" v="295" actId="20577"/>
          <ac:spMkLst>
            <pc:docMk/>
            <pc:sldMk cId="3353641438" sldId="270"/>
            <ac:spMk id="6" creationId="{96D18F95-70EB-586A-DA91-AF1E44A2630E}"/>
          </ac:spMkLst>
        </pc:spChg>
        <pc:picChg chg="add del mod">
          <ac:chgData name="Andrew Massa" userId="8efb8a0e1b13d44c" providerId="LiveId" clId="{3ACF9128-E840-5959-BFC4-4A4B832DEB41}" dt="2026-10-22T15:43:50.357" v="313" actId="478"/>
          <ac:picMkLst>
            <pc:docMk/>
            <pc:sldMk cId="3353641438" sldId="270"/>
            <ac:picMk id="4" creationId="{72347E5C-8F59-EDBE-BB9B-3F647DCFE24D}"/>
          </ac:picMkLst>
        </pc:picChg>
        <pc:picChg chg="add del mod">
          <ac:chgData name="Andrew Massa" userId="8efb8a0e1b13d44c" providerId="LiveId" clId="{3ACF9128-E840-5959-BFC4-4A4B832DEB41}" dt="2026-10-22T15:43:49.575" v="311" actId="478"/>
          <ac:picMkLst>
            <pc:docMk/>
            <pc:sldMk cId="3353641438" sldId="270"/>
            <ac:picMk id="7" creationId="{599150CE-A1BB-4BFA-565E-0427B07C27D6}"/>
          </ac:picMkLst>
        </pc:picChg>
        <pc:picChg chg="add del mod">
          <ac:chgData name="Andrew Massa" userId="8efb8a0e1b13d44c" providerId="LiveId" clId="{3ACF9128-E840-5959-BFC4-4A4B832DEB41}" dt="2026-10-22T15:43:47.046" v="310" actId="478"/>
          <ac:picMkLst>
            <pc:docMk/>
            <pc:sldMk cId="3353641438" sldId="270"/>
            <ac:picMk id="8" creationId="{8C60D3D9-FBC9-EB55-675A-227298814BE9}"/>
          </ac:picMkLst>
        </pc:picChg>
        <pc:picChg chg="add del mod modCrop">
          <ac:chgData name="Andrew Massa" userId="8efb8a0e1b13d44c" providerId="LiveId" clId="{3ACF9128-E840-5959-BFC4-4A4B832DEB41}" dt="2026-10-22T15:43:44.842" v="309" actId="478"/>
          <ac:picMkLst>
            <pc:docMk/>
            <pc:sldMk cId="3353641438" sldId="270"/>
            <ac:picMk id="9" creationId="{781AAC56-7A22-4ABC-5D16-3821F3346585}"/>
          </ac:picMkLst>
        </pc:picChg>
        <pc:picChg chg="add mod">
          <ac:chgData name="Andrew Massa" userId="8efb8a0e1b13d44c" providerId="LiveId" clId="{3ACF9128-E840-5959-BFC4-4A4B832DEB41}" dt="2026-10-22T15:43:53.886" v="314" actId="1076"/>
          <ac:picMkLst>
            <pc:docMk/>
            <pc:sldMk cId="3353641438" sldId="270"/>
            <ac:picMk id="10" creationId="{C1428AE4-816C-D7D0-FE43-31CE546F3E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96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0:00–0:20. Introduce the team and the one-line question.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0:20–1:30. Why it matters: states spend real effort recruiting firms, and DoD contracts are a large federal dollar flow. We want to know which kind of industrial base goes with more DoD dollars, so recruiting targets the strongest association. We say "associated with", not "causes".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1:30–3:00. Walk the filter table with the row counts. Why drop $0 and negatives: the log of zero or a negative number doesn't exist, so they can't enter a log model. Negative totals mean cancellations (de-obligations) outweighed new awards. Each row is a county, not a year, so n = 2,125.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Shape of the response: raw DoD dollars have skew 11.9, mean $186M vs median $1.3M, so a few counties dominate. Logged, skew is 0.02, essentially symmetric. Many counties have zero establishments, which is why we use log(1 + count). Shaded rows are the versions that go into the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3:00–3:30. Modelling choice: the raw response has skew 11.9, so a handful of counties would dominate a linear model. The log is bell-shaped (skew 0.02), which is why the response is log(DoD $). This is the log(y) transform from the extra-credit 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3:30–4:00. Modelling choice: the relationships look linear on the log scale, so the predictors enter as log(1 + count). The +1 keeps counties with zero establishments in the data. These are simple correlations before controls; the regression holds the others constant.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4:00–4:30. Modelling choice: metro counties sit well above nonmetro, and regions differ, so metro and region go in as dummy variables. Metro means part of an OMB metropolitan area (USDA codes 1–3). Baselines are Metro and Midwest. If short on time, move this chart to the 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4:30–5:30. Four quantitative predictors plus dummies for metro status and region. All three industry coefficients are significant at 0.05 (t-test, H0: b = 0). Aerospace and R&amp;D are far larger than shipbuilding, and shipbuilding's interval sits almost entirely below theirs.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5:30–7:00. Both sides are logged, so doubling the input multiplies DoD dollars by 2 to the power b. Aerospace: 2^0.663 = 1.58, so 58% more. R&amp;D: 2^0.673 = 1.59. Shipbuilding: 2^0.218 = 1.16. Nonmetro dummy: e^−0.413 = 0.66, so 34% less. Population (not shown): 2^0.781 = 1.72, so 72% more. All "is associated with", never "causes".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7:00–7:50. R² 0.496: the model explains about half the variation in log DoD dollars. Adjusted R² barely drops, so the predictors aren't padding. se 2.630 is in log units; e^2.63 ≈ 14, so a typical county's actual dollars can be off by a factor of about 14 either way. VIFs are all under 5, so the predictors aren't too correlated with each other. Residual check: each dot is a county, actual minus predicted. We want an even band around zero. Ours centers on zero, but the band narrows as predictions get larger, so we report that diagnostic as failed.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7:50–8:30. Same typical county four ways. Counties like this with one aerospace establishment average about $0.97M a year in DoD contracts, versus $0.62M with none: about 58% more, because going from 0 to 1 doubles (1 + count). One more R&amp;D firm is a smaller step here because the county already has 2. These are associations across counties, not the effect of adding a firm. The confidence interval is for the average county with that profile; the prediction interval in the dark box is for one county, and it is much wider because half the variation is unexplained. It still works as designed: 95.0% of counties fall inside their own interval.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8:30–9:15. All three industries are significantly associated with DoD dollars (we reject H0: b = 0 for each). Aerospace and R&amp;D are much larger than shipbuilding; their confidence intervals don't overlap shipbuilding's. Model B drops the controls; C adds federal jobs, which fits better but partly measures DoD presence itself (bases), so we don't use it; D uses pre-COVID dollars and gives the same ranking.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9:15–9:45. Be direct: association, not causation. On shipbuilding: region dummies don't control for coastline. When we fit the same model only on counties with at least one shipbuilding establishment (n = 496), shipbuilding's coefficient is 0.48 (p = 0.005), close to aerospace's 0.46. So for coastal or waterway counties, shipbuilding may matter as much. If asked about bases: federal jobs (Model C) partly capture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[Name]. 9:45–10:00. Bracketed items are placeholders: keep only the checks the team actually did. Then open for Q&amp;A; say "we don't know" when that's the honest answer.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15020"/>
            <a:ext cx="10566400" cy="408880"/>
          </a:xfrm>
          <a:prstGeom prst="rect">
            <a:avLst/>
          </a:prstGeom>
          <a:noFill/>
          <a:ln/>
        </p:spPr>
        <p:txBody>
          <a:bodyPr wrap="square" lIns="0" tIns="0" rIns="0" bIns="0" rtlCol="0" anchor="t"/>
          <a:lstStyle>
            <a:lvl1pPr marL="0" indent="0" algn="l">
              <a:lnSpc>
                <a:spcPct val="115000"/>
              </a:lnSpc>
              <a:buNone/>
              <a:defRPr lang="en-US" sz="28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28701"/>
            <a:ext cx="10566400" cy="42164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15020"/>
            <a:ext cx="10566400" cy="408880"/>
          </a:xfrm>
          <a:prstGeom prst="rect">
            <a:avLst/>
          </a:prstGeom>
          <a:noFill/>
          <a:ln/>
        </p:spPr>
        <p:txBody>
          <a:bodyPr wrap="square" lIns="0" tIns="0" rIns="0" bIns="0" rtlCol="0" anchor="t"/>
          <a:lstStyle>
            <a:lvl1pPr marL="0" indent="0" algn="l">
              <a:lnSpc>
                <a:spcPct val="115000"/>
              </a:lnSpc>
              <a:buNone/>
              <a:defRPr lang="en-US" sz="28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28701"/>
            <a:ext cx="10566400" cy="42164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8FB8EE"/>
                </a:solidFill>
                <a:latin typeface="IBM Plex Sans" pitchFamily="34" charset="0"/>
                <a:ea typeface="IBM Plex Sans" pitchFamily="34" charset="-122"/>
                <a:cs typeface="IBM Plex Sans" pitchFamily="34" charset="-120"/>
              </a:rPr>
              <a:t>MSBA 501 · GROUP PROJECT · OCTOBER 22, 2026</a:t>
            </a:r>
            <a:endParaRPr lang="en-US" sz="1400" dirty="0"/>
          </a:p>
        </p:txBody>
      </p:sp>
      <p:sp>
        <p:nvSpPr>
          <p:cNvPr id="3" name="Text 1"/>
          <p:cNvSpPr>
            <a:spLocks noGrp="1"/>
          </p:cNvSpPr>
          <p:nvPr>
            <p:ph type="title"/>
          </p:nvPr>
        </p:nvSpPr>
        <p:spPr>
          <a:xfrm>
            <a:off x="812800" y="2323703"/>
            <a:ext cx="10883392" cy="1342033"/>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4F2EC"/>
                </a:solidFill>
                <a:latin typeface="Source Serif 4" pitchFamily="18" charset="0"/>
                <a:ea typeface="Source Serif 4" pitchFamily="18" charset="-122"/>
                <a:cs typeface="Source Serif 4" pitchFamily="18" charset="-120"/>
              </a:rPr>
              <a:t>Which defense industries go with more DoD contract dollars?</a:t>
            </a:r>
            <a:endParaRPr lang="en-US" sz="4800" dirty="0"/>
          </a:p>
        </p:txBody>
      </p:sp>
      <p:sp>
        <p:nvSpPr>
          <p:cNvPr id="4" name="Text 2"/>
          <p:cNvSpPr/>
          <p:nvPr/>
        </p:nvSpPr>
        <p:spPr>
          <a:xfrm>
            <a:off x="812800" y="3894336"/>
            <a:ext cx="10883392"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3E4"/>
                </a:solidFill>
                <a:latin typeface="IBM Plex Sans" pitchFamily="34" charset="0"/>
                <a:ea typeface="IBM Plex Sans" pitchFamily="34" charset="-122"/>
                <a:cs typeface="IBM Plex Sans" pitchFamily="34" charset="-120"/>
              </a:rPr>
              <a:t>A regression on 2,125 U.S. counties: aerospace, R&amp;D and shipbuilding establishments vs. average annual DoD contract spending, 2022–2024</a:t>
            </a:r>
            <a:endParaRPr lang="en-US" sz="18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4"/>
                </a:solidFill>
                <a:latin typeface="IBM Plex Sans" pitchFamily="34" charset="0"/>
                <a:ea typeface="IBM Plex Sans" pitchFamily="34" charset="-122"/>
                <a:cs typeface="IBM Plex Sans" pitchFamily="34" charset="-120"/>
              </a:rPr>
              <a:t>Andrew Massa, Mario Duarte, Matt Merino, Perry Fan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DECISION AND QUESTION</a:t>
            </a:r>
            <a:endParaRPr lang="en-US" sz="1200" dirty="0"/>
          </a:p>
        </p:txBody>
      </p:sp>
      <p:sp>
        <p:nvSpPr>
          <p:cNvPr id="3" name="Text 1"/>
          <p:cNvSpPr>
            <a:spLocks noGrp="1"/>
          </p:cNvSpPr>
          <p:nvPr>
            <p:ph type="title"/>
          </p:nvPr>
        </p:nvSpPr>
        <p:spPr>
          <a:xfrm>
            <a:off x="812800" y="11785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Which defense industry should a state target?</a:t>
            </a:r>
            <a:endParaRPr lang="en-US" sz="2800" dirty="0"/>
          </a:p>
        </p:txBody>
      </p:sp>
      <p:sp>
        <p:nvSpPr>
          <p:cNvPr id="4" name="Shape 2"/>
          <p:cNvSpPr/>
          <p:nvPr/>
        </p:nvSpPr>
        <p:spPr>
          <a:xfrm>
            <a:off x="815975" y="1844576"/>
            <a:ext cx="3621584" cy="1651992"/>
          </a:xfrm>
          <a:prstGeom prst="roundRect">
            <a:avLst>
              <a:gd name="adj" fmla="val 5958"/>
            </a:avLst>
          </a:prstGeom>
          <a:solidFill>
            <a:srgbClr val="FFFFFF"/>
          </a:solidFill>
          <a:ln w="6350">
            <a:solidFill>
              <a:srgbClr val="DEDAD0"/>
            </a:solidFill>
            <a:prstDash val="solid"/>
          </a:ln>
        </p:spPr>
        <p:txBody>
          <a:bodyPr/>
          <a:lstStyle/>
          <a:p>
            <a:endParaRPr lang="en-US"/>
          </a:p>
        </p:txBody>
      </p:sp>
      <p:sp>
        <p:nvSpPr>
          <p:cNvPr id="5" name="Text 3"/>
          <p:cNvSpPr/>
          <p:nvPr/>
        </p:nvSpPr>
        <p:spPr>
          <a:xfrm>
            <a:off x="1073150" y="2101751"/>
            <a:ext cx="320045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DECISION-MAKER</a:t>
            </a:r>
            <a:endParaRPr lang="en-US" sz="1200" dirty="0"/>
          </a:p>
        </p:txBody>
      </p:sp>
      <p:sp>
        <p:nvSpPr>
          <p:cNvPr id="6" name="Text 4"/>
          <p:cNvSpPr/>
          <p:nvPr/>
        </p:nvSpPr>
        <p:spPr>
          <a:xfrm>
            <a:off x="1073150" y="2416671"/>
            <a:ext cx="3200451" cy="57388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3D"/>
                </a:solidFill>
                <a:latin typeface="IBM Plex Sans" pitchFamily="34" charset="0"/>
                <a:ea typeface="IBM Plex Sans" pitchFamily="34" charset="-122"/>
                <a:cs typeface="IBM Plex Sans" pitchFamily="34" charset="-120"/>
              </a:rPr>
              <a:t>A State Economic Development Director</a:t>
            </a:r>
            <a:endParaRPr lang="en-US" sz="1600" dirty="0"/>
          </a:p>
        </p:txBody>
      </p:sp>
      <p:sp>
        <p:nvSpPr>
          <p:cNvPr id="7" name="Shape 5"/>
          <p:cNvSpPr/>
          <p:nvPr/>
        </p:nvSpPr>
        <p:spPr>
          <a:xfrm>
            <a:off x="4647109" y="1844576"/>
            <a:ext cx="6728916" cy="1651992"/>
          </a:xfrm>
          <a:prstGeom prst="roundRect">
            <a:avLst>
              <a:gd name="adj" fmla="val 5958"/>
            </a:avLst>
          </a:prstGeom>
          <a:solidFill>
            <a:srgbClr val="FFFFFF"/>
          </a:solidFill>
          <a:ln w="6350">
            <a:solidFill>
              <a:srgbClr val="DEDAD0"/>
            </a:solidFill>
            <a:prstDash val="solid"/>
          </a:ln>
        </p:spPr>
        <p:txBody>
          <a:bodyPr/>
          <a:lstStyle/>
          <a:p>
            <a:endParaRPr lang="en-US"/>
          </a:p>
        </p:txBody>
      </p:sp>
      <p:sp>
        <p:nvSpPr>
          <p:cNvPr id="8" name="Text 6"/>
          <p:cNvSpPr/>
          <p:nvPr/>
        </p:nvSpPr>
        <p:spPr>
          <a:xfrm>
            <a:off x="4904284" y="2101751"/>
            <a:ext cx="640100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DECISION</a:t>
            </a:r>
            <a:endParaRPr lang="en-US" sz="1200" dirty="0"/>
          </a:p>
        </p:txBody>
      </p:sp>
      <p:sp>
        <p:nvSpPr>
          <p:cNvPr id="9" name="Text 7"/>
          <p:cNvSpPr/>
          <p:nvPr/>
        </p:nvSpPr>
        <p:spPr>
          <a:xfrm>
            <a:off x="4904284" y="2416671"/>
            <a:ext cx="6401003" cy="84812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3D"/>
                </a:solidFill>
                <a:latin typeface="IBM Plex Sans" pitchFamily="34" charset="0"/>
                <a:ea typeface="IBM Plex Sans" pitchFamily="34" charset="-122"/>
                <a:cs typeface="IBM Plex Sans" pitchFamily="34" charset="-120"/>
              </a:rPr>
              <a:t>Which defense industry (aerospace, scientific R&amp;D or shipbuilding) to prioritize when recruiting and supporting firms in counties with DoD contracts</a:t>
            </a:r>
            <a:endParaRPr lang="en-US" sz="1600" dirty="0"/>
          </a:p>
        </p:txBody>
      </p:sp>
      <p:sp>
        <p:nvSpPr>
          <p:cNvPr id="10" name="Shape 8"/>
          <p:cNvSpPr/>
          <p:nvPr/>
        </p:nvSpPr>
        <p:spPr>
          <a:xfrm>
            <a:off x="812800" y="3753743"/>
            <a:ext cx="10566400" cy="2008981"/>
          </a:xfrm>
          <a:prstGeom prst="roundRect">
            <a:avLst>
              <a:gd name="adj" fmla="val 5057"/>
            </a:avLst>
          </a:prstGeom>
          <a:solidFill>
            <a:srgbClr val="14213D"/>
          </a:solidFill>
          <a:ln/>
        </p:spPr>
        <p:txBody>
          <a:bodyPr/>
          <a:lstStyle/>
          <a:p>
            <a:endParaRPr lang="en-US"/>
          </a:p>
        </p:txBody>
      </p:sp>
      <p:sp>
        <p:nvSpPr>
          <p:cNvPr id="11" name="Text 9"/>
          <p:cNvSpPr/>
          <p:nvPr/>
        </p:nvSpPr>
        <p:spPr>
          <a:xfrm>
            <a:off x="1066800" y="4007743"/>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8EE"/>
                </a:solidFill>
                <a:latin typeface="IBM Plex Sans" pitchFamily="34" charset="0"/>
                <a:ea typeface="IBM Plex Sans" pitchFamily="34" charset="-122"/>
                <a:cs typeface="IBM Plex Sans" pitchFamily="34" charset="-120"/>
              </a:rPr>
              <a:t>REGRESSION QUESTION</a:t>
            </a:r>
            <a:endParaRPr lang="en-US" sz="1200" dirty="0"/>
          </a:p>
        </p:txBody>
      </p:sp>
      <p:sp>
        <p:nvSpPr>
          <p:cNvPr id="12" name="Text 10"/>
          <p:cNvSpPr/>
          <p:nvPr/>
        </p:nvSpPr>
        <p:spPr>
          <a:xfrm>
            <a:off x="1066800" y="4322663"/>
            <a:ext cx="1036015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2EC"/>
                </a:solidFill>
                <a:latin typeface="IBM Plex Sans" pitchFamily="34" charset="0"/>
                <a:ea typeface="IBM Plex Sans" pitchFamily="34" charset="-122"/>
                <a:cs typeface="IBM Plex Sans" pitchFamily="34" charset="-120"/>
              </a:rPr>
              <a:t>Among U.S. counties that received DoD contract dollars, how is the number of aerospace, R&amp;D and shipbuilding establishments associated with average annual DoD contract spending (2022–2024), holding population, metro status and region constant?</a:t>
            </a:r>
            <a:endParaRPr lang="en-US" sz="1600" dirty="0"/>
          </a:p>
        </p:txBody>
      </p:sp>
      <p:sp>
        <p:nvSpPr>
          <p:cNvPr id="13" name="Text 11"/>
          <p:cNvSpPr/>
          <p:nvPr/>
        </p:nvSpPr>
        <p:spPr>
          <a:xfrm>
            <a:off x="1066800" y="5277644"/>
            <a:ext cx="103601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4"/>
                </a:solidFill>
                <a:latin typeface="IBM Plex Sans" pitchFamily="34" charset="0"/>
                <a:ea typeface="IBM Plex Sans" pitchFamily="34" charset="-122"/>
                <a:cs typeface="IBM Plex Sans" pitchFamily="34" charset="-120"/>
              </a:rPr>
              <a:t>Response: log of average annual DoD contract dollars, 2022–2024</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DATA AND FILTERS</a:t>
            </a:r>
            <a:endParaRPr lang="en-US" sz="1200" dirty="0"/>
          </a:p>
        </p:txBody>
      </p:sp>
      <p:sp>
        <p:nvSpPr>
          <p:cNvPr id="3" name="Text 1"/>
          <p:cNvSpPr>
            <a:spLocks noGrp="1"/>
          </p:cNvSpPr>
          <p:nvPr>
            <p:ph type="title"/>
          </p:nvPr>
        </p:nvSpPr>
        <p:spPr>
          <a:xfrm>
            <a:off x="812800" y="11785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From 3,193 counties to 2,125</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101"/>
          <a:ext cx="6144220" cy="1929805"/>
        </p:xfrm>
        <a:graphic>
          <a:graphicData uri="http://schemas.openxmlformats.org/drawingml/2006/table">
            <a:tbl>
              <a:tblPr/>
              <a:tblGrid>
                <a:gridCol w="3686532">
                  <a:extLst>
                    <a:ext uri="{9D8B030D-6E8A-4147-A177-3AD203B41FA5}">
                      <a16:colId xmlns:a16="http://schemas.microsoft.com/office/drawing/2014/main" val="20000"/>
                    </a:ext>
                  </a:extLst>
                </a:gridCol>
                <a:gridCol w="1228844">
                  <a:extLst>
                    <a:ext uri="{9D8B030D-6E8A-4147-A177-3AD203B41FA5}">
                      <a16:colId xmlns:a16="http://schemas.microsoft.com/office/drawing/2014/main" val="20001"/>
                    </a:ext>
                  </a:extLst>
                </a:gridCol>
                <a:gridCol w="122884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Removed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Left</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All U.S. counties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3,193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No DoD contract record</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−509</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2,684</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DoD $0 (464) or negative (95)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−559</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2,125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Missing any model variable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2,125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36305"/>
            <a:ext cx="634162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Sources: DoD contract obligations, USAspending; establishment counts (2024, private), BLS QCEW for NAICS 3364, 5417, 3366; metro status, USDA 2023 Rural-Urban Continuum Codes; population and region, [source]</a:t>
            </a:r>
            <a:endParaRPr lang="en-US" sz="1200" dirty="0"/>
          </a:p>
        </p:txBody>
      </p:sp>
      <p:sp>
        <p:nvSpPr>
          <p:cNvPr id="6" name="Shape 3"/>
          <p:cNvSpPr/>
          <p:nvPr/>
        </p:nvSpPr>
        <p:spPr>
          <a:xfrm>
            <a:off x="7277695" y="1844576"/>
            <a:ext cx="4098330" cy="1199952"/>
          </a:xfrm>
          <a:prstGeom prst="roundRect">
            <a:avLst>
              <a:gd name="adj" fmla="val 8202"/>
            </a:avLst>
          </a:prstGeom>
          <a:solidFill>
            <a:srgbClr val="FFFFFF"/>
          </a:solidFill>
          <a:ln w="6350">
            <a:solidFill>
              <a:srgbClr val="DEDAD0"/>
            </a:solidFill>
            <a:prstDash val="solid"/>
          </a:ln>
        </p:spPr>
        <p:txBody>
          <a:bodyPr/>
          <a:lstStyle/>
          <a:p>
            <a:endParaRPr lang="en-US"/>
          </a:p>
        </p:txBody>
      </p:sp>
      <p:sp>
        <p:nvSpPr>
          <p:cNvPr id="7" name="Text 4"/>
          <p:cNvSpPr/>
          <p:nvPr/>
        </p:nvSpPr>
        <p:spPr>
          <a:xfrm>
            <a:off x="7484070" y="2050951"/>
            <a:ext cx="379614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REPRESENTS</a:t>
            </a:r>
            <a:endParaRPr lang="en-US" sz="1200" dirty="0"/>
          </a:p>
        </p:txBody>
      </p:sp>
      <p:sp>
        <p:nvSpPr>
          <p:cNvPr id="8" name="Text 5"/>
          <p:cNvSpPr/>
          <p:nvPr/>
        </p:nvSpPr>
        <p:spPr>
          <a:xfrm>
            <a:off x="7484070" y="2340471"/>
            <a:ext cx="379614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3D"/>
                </a:solidFill>
                <a:latin typeface="IBM Plex Sans" pitchFamily="34" charset="0"/>
                <a:ea typeface="IBM Plex Sans" pitchFamily="34" charset="-122"/>
                <a:cs typeface="IBM Plex Sans" pitchFamily="34" charset="-120"/>
              </a:rPr>
              <a:t>Every county with positive DoD contract dollars, from a few dollars to $22B a year</a:t>
            </a:r>
            <a:endParaRPr lang="en-US" sz="1400" dirty="0"/>
          </a:p>
        </p:txBody>
      </p:sp>
      <p:sp>
        <p:nvSpPr>
          <p:cNvPr id="9" name="Shape 6"/>
          <p:cNvSpPr/>
          <p:nvPr/>
        </p:nvSpPr>
        <p:spPr>
          <a:xfrm>
            <a:off x="7277695" y="3203277"/>
            <a:ext cx="4098330" cy="1199952"/>
          </a:xfrm>
          <a:prstGeom prst="roundRect">
            <a:avLst>
              <a:gd name="adj" fmla="val 8202"/>
            </a:avLst>
          </a:prstGeom>
          <a:solidFill>
            <a:srgbClr val="FFFFFF"/>
          </a:solidFill>
          <a:ln w="6350">
            <a:solidFill>
              <a:srgbClr val="DEDAD0"/>
            </a:solidFill>
            <a:prstDash val="solid"/>
          </a:ln>
        </p:spPr>
        <p:txBody>
          <a:bodyPr/>
          <a:lstStyle/>
          <a:p>
            <a:endParaRPr lang="en-US"/>
          </a:p>
        </p:txBody>
      </p:sp>
      <p:sp>
        <p:nvSpPr>
          <p:cNvPr id="10" name="Text 7"/>
          <p:cNvSpPr/>
          <p:nvPr/>
        </p:nvSpPr>
        <p:spPr>
          <a:xfrm>
            <a:off x="7484070" y="3409652"/>
            <a:ext cx="379614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91D"/>
                </a:solidFill>
                <a:latin typeface="IBM Plex Sans" pitchFamily="34" charset="0"/>
                <a:ea typeface="IBM Plex Sans" pitchFamily="34" charset="-122"/>
                <a:cs typeface="IBM Plex Sans" pitchFamily="34" charset="-120"/>
              </a:rPr>
              <a:t>DOES NOT REPRESENT</a:t>
            </a:r>
            <a:endParaRPr lang="en-US" sz="1200" dirty="0"/>
          </a:p>
        </p:txBody>
      </p:sp>
      <p:sp>
        <p:nvSpPr>
          <p:cNvPr id="11" name="Text 8"/>
          <p:cNvSpPr/>
          <p:nvPr/>
        </p:nvSpPr>
        <p:spPr>
          <a:xfrm>
            <a:off x="7484070" y="3699173"/>
            <a:ext cx="379614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3D"/>
                </a:solidFill>
                <a:latin typeface="IBM Plex Sans" pitchFamily="34" charset="0"/>
                <a:ea typeface="IBM Plex Sans" pitchFamily="34" charset="-122"/>
                <a:cs typeface="IBM Plex Sans" pitchFamily="34" charset="-120"/>
              </a:rPr>
              <a:t>Counties with no DoD contracts or net cancellations</a:t>
            </a:r>
            <a:endParaRPr lang="en-US" sz="14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6637"/>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2A63B8"/>
                </a:solidFill>
                <a:latin typeface="IBM Plex Sans" pitchFamily="34" charset="0"/>
                <a:ea typeface="IBM Plex Sans" pitchFamily="34" charset="-122"/>
                <a:cs typeface="IBM Plex Sans" pitchFamily="34" charset="-120"/>
              </a:rPr>
              <a:t>DESCRIPTIVE STATISTICS · N = 2,125</a:t>
            </a:r>
            <a:endParaRPr lang="en-US" sz="1196" dirty="0"/>
          </a:p>
        </p:txBody>
      </p:sp>
      <p:sp>
        <p:nvSpPr>
          <p:cNvPr id="3" name="Text 1"/>
          <p:cNvSpPr>
            <a:spLocks noGrp="1"/>
          </p:cNvSpPr>
          <p:nvPr>
            <p:ph type="title"/>
          </p:nvPr>
        </p:nvSpPr>
        <p:spPr>
          <a:xfrm>
            <a:off x="812800" y="1074837"/>
            <a:ext cx="10883392" cy="430213"/>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Raw variables are skewed; logs much less so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44749"/>
          <a:ext cx="10553700" cy="3622377"/>
        </p:xfrm>
        <a:graphic>
          <a:graphicData uri="http://schemas.openxmlformats.org/drawingml/2006/table">
            <a:tbl>
              <a:tblPr/>
              <a:tblGrid>
                <a:gridCol w="2955036">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477518">
                  <a:extLst>
                    <a:ext uri="{9D8B030D-6E8A-4147-A177-3AD203B41FA5}">
                      <a16:colId xmlns:a16="http://schemas.microsoft.com/office/drawing/2014/main" val="20005"/>
                    </a:ext>
                  </a:extLst>
                </a:gridCol>
                <a:gridCol w="1055370">
                  <a:extLst>
                    <a:ext uri="{9D8B030D-6E8A-4147-A177-3AD203B41FA5}">
                      <a16:colId xmlns:a16="http://schemas.microsoft.com/office/drawing/2014/main" val="20006"/>
                    </a:ext>
                  </a:extLst>
                </a:gridCol>
              </a:tblGrid>
              <a:tr h="329307">
                <a:tc>
                  <a:txBody>
                    <a:bodyPr/>
                    <a:lstStyle/>
                    <a:p>
                      <a:pPr marL="0" indent="0">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Variable</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Mean</a:t>
                      </a:r>
                      <a:endParaRPr lang="en-US" sz="1185" dirty="0">
                        <a:latin typeface="IBM Plex Sans" charset="0"/>
                        <a:ea typeface="IBM Plex Sans" charset="0"/>
                        <a:cs typeface="IBM Plex Sans" charset="0"/>
                      </a:endParaRPr>
                    </a:p>
                  </a:txBody>
                  <a:tcPr marL="52673" marR="52673" marT="52673" marB="52673">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SD</a:t>
                      </a:r>
                      <a:endParaRPr lang="en-US" sz="1185" dirty="0">
                        <a:latin typeface="IBM Plex Sans" charset="0"/>
                        <a:ea typeface="IBM Plex Sans" charset="0"/>
                        <a:cs typeface="IBM Plex Sans" charset="0"/>
                      </a:endParaRPr>
                    </a:p>
                  </a:txBody>
                  <a:tcPr marL="52673" marR="52673" marT="52673" marB="52673">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Min</a:t>
                      </a:r>
                      <a:endParaRPr lang="en-US" sz="1185" dirty="0">
                        <a:latin typeface="IBM Plex Sans" charset="0"/>
                        <a:ea typeface="IBM Plex Sans" charset="0"/>
                        <a:cs typeface="IBM Plex Sans" charset="0"/>
                      </a:endParaRPr>
                    </a:p>
                  </a:txBody>
                  <a:tcPr marL="52673" marR="52673" marT="52673" marB="52673">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Median</a:t>
                      </a:r>
                      <a:endParaRPr lang="en-US" sz="1185" dirty="0">
                        <a:latin typeface="IBM Plex Sans" charset="0"/>
                        <a:ea typeface="IBM Plex Sans" charset="0"/>
                        <a:cs typeface="IBM Plex Sans" charset="0"/>
                      </a:endParaRPr>
                    </a:p>
                  </a:txBody>
                  <a:tcPr marL="52673" marR="52673" marT="52673" marB="52673">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Max</a:t>
                      </a:r>
                      <a:endParaRPr lang="en-US" sz="1185" dirty="0">
                        <a:latin typeface="IBM Plex Sans" charset="0"/>
                        <a:ea typeface="IBM Plex Sans" charset="0"/>
                        <a:cs typeface="IBM Plex Sans" charset="0"/>
                      </a:endParaRPr>
                    </a:p>
                  </a:txBody>
                  <a:tcPr marL="52673" marR="52673" marT="52673" marB="52673">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59"/>
                        </a:lnSpc>
                        <a:buNone/>
                      </a:pPr>
                      <a:r>
                        <a:rPr lang="en-US" sz="1185" b="1" dirty="0">
                          <a:solidFill>
                            <a:srgbClr val="1F2A3D"/>
                          </a:solidFill>
                          <a:latin typeface="IBM Plex Sans" pitchFamily="34" charset="0"/>
                          <a:ea typeface="IBM Plex Sans" pitchFamily="34" charset="-122"/>
                          <a:cs typeface="IBM Plex Sans" pitchFamily="34" charset="-120"/>
                        </a:rPr>
                        <a:t>Skew</a:t>
                      </a:r>
                      <a:endParaRPr lang="en-US" sz="1185" dirty="0">
                        <a:latin typeface="IBM Plex Sans" charset="0"/>
                        <a:ea typeface="IBM Plex Sans" charset="0"/>
                        <a:cs typeface="IBM Plex Sans" charset="0"/>
                      </a:endParaRPr>
                    </a:p>
                  </a:txBody>
                  <a:tcPr marL="52673" marR="52673" marT="52673" marB="52673">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DoD $/yr, 2022–24 ($M)</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185.6</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1,016.7</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&lt;0.01</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1.31</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22,069.5</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11.86</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log DoD $ (response)</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14.17</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3.70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0.77</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14.09</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23.82</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0.02</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extLst>
                  <a:ext uri="{0D108BD9-81ED-4DB2-BD59-A6C34878D82A}">
                    <a16:rowId xmlns:a16="http://schemas.microsoft.com/office/drawing/2014/main" val="10002"/>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Aerospace establishments</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1.75</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9.81</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330</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21.12</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log(1 + aerospace)</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0.43</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0.76</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5.80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2.27</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extLst>
                  <a:ext uri="{0D108BD9-81ED-4DB2-BD59-A6C34878D82A}">
                    <a16:rowId xmlns:a16="http://schemas.microsoft.com/office/drawing/2014/main" val="10004"/>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R&amp;D establishments</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18.94</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80.41</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2</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1,881</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11.52</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log(1 + R&amp;D)</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1.39</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1.46</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1.10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7.54</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1.19</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extLst>
                  <a:ext uri="{0D108BD9-81ED-4DB2-BD59-A6C34878D82A}">
                    <a16:rowId xmlns:a16="http://schemas.microsoft.com/office/drawing/2014/main" val="10006"/>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Shipbuilding establishments</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0.94</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4.42</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124</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14.77</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log(1 + shipbuilding)</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0.28</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0.62</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4.83</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2.77</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extLst>
                  <a:ext uri="{0D108BD9-81ED-4DB2-BD59-A6C34878D82A}">
                    <a16:rowId xmlns:a16="http://schemas.microsoft.com/office/drawing/2014/main" val="10008"/>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Population, 2020 (000s)</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147.6</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399.6</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0.6</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43.1</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9,996.6</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11.24</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9"/>
                  </a:ext>
                </a:extLst>
              </a:tr>
              <a:tr h="329307">
                <a:tc>
                  <a:txBody>
                    <a:bodyPr/>
                    <a:lstStyle/>
                    <a:p>
                      <a:pPr marL="0" indent="0">
                        <a:lnSpc>
                          <a:spcPts val="1659"/>
                        </a:lnSpc>
                        <a:buNone/>
                      </a:pPr>
                      <a:r>
                        <a:rPr lang="en-US" sz="1185" dirty="0">
                          <a:solidFill>
                            <a:srgbClr val="1F2A3D"/>
                          </a:solidFill>
                          <a:latin typeface="IBM Plex Sans" pitchFamily="34" charset="0"/>
                          <a:ea typeface="IBM Plex Sans" pitchFamily="34" charset="-122"/>
                          <a:cs typeface="IBM Plex Sans" pitchFamily="34" charset="-120"/>
                        </a:rPr>
                        <a:t>log population</a:t>
                      </a:r>
                      <a:endParaRPr lang="en-US" sz="1185" dirty="0">
                        <a:latin typeface="IBM Plex Sans" charset="0"/>
                        <a:ea typeface="IBM Plex Sans" charset="0"/>
                        <a:cs typeface="IBM Plex Sans" charset="0"/>
                      </a:endParaRPr>
                    </a:p>
                  </a:txBody>
                  <a:tcPr marL="52673" marR="52673" marT="52673" marB="52673">
                    <a:lnL w="12700" cap="flat" cmpd="sng" algn="ctr">
                      <a:solidFill>
                        <a:srgbClr val="C5C4BF"/>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10.82</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1.37</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6.39</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10.67</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16.12</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gn="r">
                        <a:lnSpc>
                          <a:spcPts val="1659"/>
                        </a:lnSpc>
                        <a:buNone/>
                      </a:pPr>
                      <a:r>
                        <a:rPr lang="en-US" sz="1185" dirty="0">
                          <a:solidFill>
                            <a:srgbClr val="1F2A3D"/>
                          </a:solidFill>
                          <a:latin typeface="IBM Plex Sans" pitchFamily="34" charset="0"/>
                          <a:ea typeface="IBM Plex Sans" pitchFamily="34" charset="-122"/>
                          <a:cs typeface="IBM Plex Sans" pitchFamily="34" charset="-120"/>
                        </a:rPr>
                        <a:t>0.35</a:t>
                      </a:r>
                      <a:endParaRPr lang="en-US" sz="1185" dirty="0">
                        <a:latin typeface="IBM Plex Sans" charset="0"/>
                        <a:ea typeface="IBM Plex Sans" charset="0"/>
                        <a:cs typeface="IBM Plex Sans" charset="0"/>
                      </a:endParaRPr>
                    </a:p>
                  </a:txBody>
                  <a:tcPr marL="52673" marR="52673" marT="52673" marB="52673">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extLst>
                  <a:ext uri="{0D108BD9-81ED-4DB2-BD59-A6C34878D82A}">
                    <a16:rowId xmlns:a16="http://schemas.microsoft.com/office/drawing/2014/main" val="10010"/>
                  </a:ext>
                </a:extLst>
              </a:tr>
            </a:tbl>
          </a:graphicData>
        </a:graphic>
      </p:graphicFrame>
      <p:sp>
        <p:nvSpPr>
          <p:cNvPr id="5" name="Text 2"/>
          <p:cNvSpPr/>
          <p:nvPr/>
        </p:nvSpPr>
        <p:spPr>
          <a:xfrm>
            <a:off x="812800" y="5419527"/>
            <a:ext cx="10883392" cy="44787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Metro 1,018 · Nonmetro 1,107  |  South 965 · Midwest 642 · West 323 · Northeast 195  |  Counties with zero establishments: aerospace 67%, R&amp;D 31%, shipbuilding 77%</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shaded rows enter the model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554C74CF-CB92-EEB6-8DF5-023F684824AA}"/>
              </a:ext>
            </a:extLst>
          </p:cNvPr>
          <p:cNvSpPr>
            <a:spLocks noGrp="1"/>
          </p:cNvSpPr>
          <p:nvPr>
            <p:ph type="title"/>
          </p:nvPr>
        </p:nvSpPr>
        <p:spPr>
          <a:xfrm>
            <a:off x="812800" y="1074837"/>
            <a:ext cx="10883392" cy="430213"/>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So, where does the money flow?</a:t>
            </a:r>
            <a:endParaRPr lang="en-US" sz="2800" dirty="0"/>
          </a:p>
        </p:txBody>
      </p:sp>
      <p:sp>
        <p:nvSpPr>
          <p:cNvPr id="6" name="Text 0">
            <a:extLst>
              <a:ext uri="{FF2B5EF4-FFF2-40B4-BE49-F238E27FC236}">
                <a16:creationId xmlns:a16="http://schemas.microsoft.com/office/drawing/2014/main" id="{96D18F95-70EB-586A-DA91-AF1E44A2630E}"/>
              </a:ext>
            </a:extLst>
          </p:cNvPr>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Visual Analysis</a:t>
            </a:r>
            <a:endParaRPr lang="en-US" sz="1200" dirty="0"/>
          </a:p>
        </p:txBody>
      </p:sp>
      <p:pic>
        <p:nvPicPr>
          <p:cNvPr id="10" name="Picture 9">
            <a:extLst>
              <a:ext uri="{FF2B5EF4-FFF2-40B4-BE49-F238E27FC236}">
                <a16:creationId xmlns:a16="http://schemas.microsoft.com/office/drawing/2014/main" id="{C1428AE4-816C-D7D0-FE43-31CE546F3EC1}"/>
              </a:ext>
            </a:extLst>
          </p:cNvPr>
          <p:cNvPicPr>
            <a:picLocks noChangeAspect="1"/>
          </p:cNvPicPr>
          <p:nvPr/>
        </p:nvPicPr>
        <p:blipFill>
          <a:blip r:embed="rId2"/>
          <a:srcRect l="992" t="7208" r="-992" b="11670"/>
          <a:stretch>
            <a:fillRect/>
          </a:stretch>
        </p:blipFill>
        <p:spPr>
          <a:xfrm>
            <a:off x="812800" y="1505050"/>
            <a:ext cx="9576816" cy="4678878"/>
          </a:xfrm>
          <a:prstGeom prst="rect">
            <a:avLst/>
          </a:prstGeom>
        </p:spPr>
      </p:pic>
    </p:spTree>
    <p:extLst>
      <p:ext uri="{BB962C8B-B14F-4D97-AF65-F5344CB8AC3E}">
        <p14:creationId xmlns:p14="http://schemas.microsoft.com/office/powerpoint/2010/main" val="3353641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EDA 1 OF 3 · SHAPE OF THE RESPONSE</a:t>
            </a:r>
            <a:endParaRPr lang="en-US" sz="1200" dirty="0"/>
          </a:p>
        </p:txBody>
      </p:sp>
      <p:sp>
        <p:nvSpPr>
          <p:cNvPr id="3" name="Text 1"/>
          <p:cNvSpPr>
            <a:spLocks noGrp="1"/>
          </p:cNvSpPr>
          <p:nvPr>
            <p:ph type="title"/>
          </p:nvPr>
        </p:nvSpPr>
        <p:spPr>
          <a:xfrm>
            <a:off x="812800" y="1127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Raw dollars are extremely skewed, so we model log(DoD $)</a:t>
            </a:r>
            <a:endParaRPr lang="en-US" sz="2800" dirty="0"/>
          </a:p>
        </p:txBody>
      </p:sp>
      <p:sp>
        <p:nvSpPr>
          <p:cNvPr id="4" name="Shape 2"/>
          <p:cNvSpPr/>
          <p:nvPr/>
        </p:nvSpPr>
        <p:spPr>
          <a:xfrm>
            <a:off x="812800" y="1739801"/>
            <a:ext cx="10566400" cy="3556000"/>
          </a:xfrm>
          <a:prstGeom prst="roundRect">
            <a:avLst>
              <a:gd name="adj" fmla="val 2857"/>
            </a:avLst>
          </a:prstGeom>
          <a:solidFill>
            <a:srgbClr val="FFFFFF"/>
          </a:solidFill>
          <a:ln/>
        </p:spPr>
        <p:txBody>
          <a:bodyPr/>
          <a:lstStyle/>
          <a:p>
            <a:endParaRPr lang="en-US"/>
          </a:p>
        </p:txBody>
      </p:sp>
      <p:pic>
        <p:nvPicPr>
          <p:cNvPr id="5" name="Image 0" descr="Two histograms: raw average annual DoD contract dollars are piled near zero with skew 11.9; the log of DoD dollars is bell-shaped with skew 0.02"/>
          <p:cNvPicPr>
            <a:picLocks noChangeAspect="1"/>
          </p:cNvPicPr>
          <p:nvPr/>
        </p:nvPicPr>
        <p:blipFill>
          <a:blip r:embed="rId3"/>
          <a:stretch>
            <a:fillRect/>
          </a:stretch>
        </p:blipFill>
        <p:spPr>
          <a:xfrm>
            <a:off x="1439333" y="1739801"/>
            <a:ext cx="9313333" cy="3556000"/>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n = 2,125 counties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EDA 2 OF 3 · THE THREE INDUSTRIES</a:t>
            </a:r>
            <a:endParaRPr lang="en-US" sz="1200" dirty="0"/>
          </a:p>
        </p:txBody>
      </p:sp>
      <p:sp>
        <p:nvSpPr>
          <p:cNvPr id="3" name="Text 1"/>
          <p:cNvSpPr>
            <a:spLocks noGrp="1"/>
          </p:cNvSpPr>
          <p:nvPr>
            <p:ph type="title"/>
          </p:nvPr>
        </p:nvSpPr>
        <p:spPr>
          <a:xfrm>
            <a:off x="812800" y="1127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Each industry rises roughly linearly with log(DoD $)</a:t>
            </a:r>
            <a:endParaRPr lang="en-US" sz="2800" dirty="0"/>
          </a:p>
        </p:txBody>
      </p:sp>
      <p:sp>
        <p:nvSpPr>
          <p:cNvPr id="4" name="Shape 2"/>
          <p:cNvSpPr/>
          <p:nvPr/>
        </p:nvSpPr>
        <p:spPr>
          <a:xfrm>
            <a:off x="812800" y="1739801"/>
            <a:ext cx="10566400" cy="3175000"/>
          </a:xfrm>
          <a:prstGeom prst="roundRect">
            <a:avLst>
              <a:gd name="adj" fmla="val 3200"/>
            </a:avLst>
          </a:prstGeom>
          <a:solidFill>
            <a:srgbClr val="FFFFFF"/>
          </a:solidFill>
          <a:ln/>
        </p:spPr>
        <p:txBody>
          <a:bodyPr/>
          <a:lstStyle/>
          <a:p>
            <a:endParaRPr lang="en-US"/>
          </a:p>
        </p:txBody>
      </p:sp>
      <p:pic>
        <p:nvPicPr>
          <p:cNvPr id="5" name="Image 0" descr="Three scatter plots of log DoD dollars against log(1 + establishments) with fitted lines: aerospace r = 0.54, R&amp;D r = 0.66, shipbuilding r = 0.36"/>
          <p:cNvPicPr>
            <a:picLocks noChangeAspect="1"/>
          </p:cNvPicPr>
          <p:nvPr/>
        </p:nvPicPr>
        <p:blipFill>
          <a:blip r:embed="rId3"/>
          <a:stretch>
            <a:fillRect/>
          </a:stretch>
        </p:blipFill>
        <p:spPr>
          <a:xfrm>
            <a:off x="1182310" y="1739801"/>
            <a:ext cx="9827381" cy="3175000"/>
          </a:xfrm>
          <a:prstGeom prst="rect">
            <a:avLst/>
          </a:prstGeom>
        </p:spPr>
      </p:pic>
      <p:sp>
        <p:nvSpPr>
          <p:cNvPr id="6" name="Text 3"/>
          <p:cNvSpPr/>
          <p:nvPr/>
        </p:nvSpPr>
        <p:spPr>
          <a:xfrm>
            <a:off x="812800" y="511800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Linear in logs, so we use log(1 + count). Shipbuilding is the weakest simple relationship (r = 0.36).</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simple fits, before controls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EDA 3 OF 3 · CATEGORICAL PREDICTORS</a:t>
            </a:r>
            <a:endParaRPr lang="en-US" sz="1200" dirty="0"/>
          </a:p>
        </p:txBody>
      </p:sp>
      <p:sp>
        <p:nvSpPr>
          <p:cNvPr id="3" name="Text 1"/>
          <p:cNvSpPr>
            <a:spLocks noGrp="1"/>
          </p:cNvSpPr>
          <p:nvPr>
            <p:ph type="title"/>
          </p:nvPr>
        </p:nvSpPr>
        <p:spPr>
          <a:xfrm>
            <a:off x="812800" y="1127720"/>
            <a:ext cx="10883392" cy="843161"/>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Metro status and region shift DoD $, so both enter as dummies</a:t>
            </a:r>
            <a:endParaRPr lang="en-US" sz="2800" dirty="0"/>
          </a:p>
        </p:txBody>
      </p:sp>
      <p:sp>
        <p:nvSpPr>
          <p:cNvPr id="4" name="Shape 2"/>
          <p:cNvSpPr/>
          <p:nvPr/>
        </p:nvSpPr>
        <p:spPr>
          <a:xfrm>
            <a:off x="812800" y="2148681"/>
            <a:ext cx="10566400" cy="3556000"/>
          </a:xfrm>
          <a:prstGeom prst="roundRect">
            <a:avLst>
              <a:gd name="adj" fmla="val 2857"/>
            </a:avLst>
          </a:prstGeom>
          <a:solidFill>
            <a:srgbClr val="FFFFFF"/>
          </a:solidFill>
          <a:ln/>
        </p:spPr>
        <p:txBody>
          <a:bodyPr/>
          <a:lstStyle/>
          <a:p>
            <a:endParaRPr lang="en-US"/>
          </a:p>
        </p:txBody>
      </p:sp>
      <p:pic>
        <p:nvPicPr>
          <p:cNvPr id="5" name="Image 0" descr="Box plots of log DoD dollars: metro counties have a higher median than nonmetro; the Northeast has the highest regional median and the Midwest the lowest"/>
          <p:cNvPicPr>
            <a:picLocks noChangeAspect="1"/>
          </p:cNvPicPr>
          <p:nvPr/>
        </p:nvPicPr>
        <p:blipFill>
          <a:blip r:embed="rId3"/>
          <a:stretch>
            <a:fillRect/>
          </a:stretch>
        </p:blipFill>
        <p:spPr>
          <a:xfrm>
            <a:off x="1439333" y="2148681"/>
            <a:ext cx="9313333" cy="3556000"/>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baselines: Metro, Midwest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MULTIPLE REGRESSION · OLS · N = 2,125</a:t>
            </a:r>
            <a:endParaRPr lang="en-US" sz="1200" dirty="0"/>
          </a:p>
        </p:txBody>
      </p:sp>
      <p:sp>
        <p:nvSpPr>
          <p:cNvPr id="3" name="Text 1"/>
          <p:cNvSpPr>
            <a:spLocks noGrp="1"/>
          </p:cNvSpPr>
          <p:nvPr>
            <p:ph type="title"/>
          </p:nvPr>
        </p:nvSpPr>
        <p:spPr>
          <a:xfrm>
            <a:off x="812800" y="11023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Aerospace and R&amp;D have the largest effects</a:t>
            </a:r>
            <a:endParaRPr lang="en-US" sz="2800" dirty="0"/>
          </a:p>
        </p:txBody>
      </p:sp>
      <p:sp>
        <p:nvSpPr>
          <p:cNvPr id="4" name="Text 2"/>
          <p:cNvSpPr/>
          <p:nvPr/>
        </p:nvSpPr>
        <p:spPr>
          <a:xfrm>
            <a:off x="812800" y="168900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log(DoD $) = b0 + b1·log(1+aero) + b2·log(1+R&amp;D) + b3·log(1+ship) + b4·log(pop) + b5·Nonmetro + b6–b8·Region + 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10581"/>
          <a:ext cx="10553700" cy="3325810"/>
        </p:xfrm>
        <a:graphic>
          <a:graphicData uri="http://schemas.openxmlformats.org/drawingml/2006/table">
            <a:tbl>
              <a:tblPr/>
              <a:tblGrid>
                <a:gridCol w="3166110">
                  <a:extLst>
                    <a:ext uri="{9D8B030D-6E8A-4147-A177-3AD203B41FA5}">
                      <a16:colId xmlns:a16="http://schemas.microsoft.com/office/drawing/2014/main" val="20000"/>
                    </a:ext>
                  </a:extLst>
                </a:gridCol>
                <a:gridCol w="1371981">
                  <a:extLst>
                    <a:ext uri="{9D8B030D-6E8A-4147-A177-3AD203B41FA5}">
                      <a16:colId xmlns:a16="http://schemas.microsoft.com/office/drawing/2014/main" val="20001"/>
                    </a:ext>
                  </a:extLst>
                </a:gridCol>
                <a:gridCol w="1371981">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2110740">
                  <a:extLst>
                    <a:ext uri="{9D8B030D-6E8A-4147-A177-3AD203B41FA5}">
                      <a16:colId xmlns:a16="http://schemas.microsoft.com/office/drawing/2014/main" val="20005"/>
                    </a:ext>
                  </a:extLst>
                </a:gridCol>
              </a:tblGrid>
              <a:tr h="332581">
                <a:tc>
                  <a:txBody>
                    <a:bodyPr/>
                    <a:lstStyle/>
                    <a:p>
                      <a:pPr marL="0" indent="0">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Predictor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Coef.</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SE</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p</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95% CI</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Intercept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4.328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0.850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5.09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2.66 to 6.00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log(1 + aerospace)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0.663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0.108</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6.13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0.45 to 0.88</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log(1 + R&amp;D)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0.673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0.074</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9.13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0.53 to 0.82</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log(1 + shipbuilding)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0.218</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0.106</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2.06</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0.039</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0.01 to 0.43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log population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0.781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0.081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9.60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0.62 to 0.94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Nonmetro (dummy)</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0.146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−2.83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0.005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−0.70 to −0.13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Northeast (dummy)</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1.124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0.224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5.02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0.69 to 1.56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South (dummy)</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0.341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0.136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0.07 to 0.61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West (dummy)</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0.428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0.186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2.29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0.06 to 0.79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baselines: Metro, Midwest · blue rows: the three industries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INTERPRETING THE COEFFICIENTS</a:t>
            </a:r>
            <a:endParaRPr lang="en-US" sz="1200" dirty="0"/>
          </a:p>
        </p:txBody>
      </p:sp>
      <p:sp>
        <p:nvSpPr>
          <p:cNvPr id="3" name="Text 1"/>
          <p:cNvSpPr>
            <a:spLocks noGrp="1"/>
          </p:cNvSpPr>
          <p:nvPr>
            <p:ph type="title"/>
          </p:nvPr>
        </p:nvSpPr>
        <p:spPr>
          <a:xfrm>
            <a:off x="812800" y="11277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What each coefficient means in dollars</a:t>
            </a:r>
            <a:endParaRPr lang="en-US" sz="2800" dirty="0"/>
          </a:p>
        </p:txBody>
      </p:sp>
      <p:sp>
        <p:nvSpPr>
          <p:cNvPr id="4" name="Shape 2"/>
          <p:cNvSpPr/>
          <p:nvPr/>
        </p:nvSpPr>
        <p:spPr>
          <a:xfrm>
            <a:off x="815975" y="1742976"/>
            <a:ext cx="5200650" cy="1654572"/>
          </a:xfrm>
          <a:prstGeom prst="roundRect">
            <a:avLst>
              <a:gd name="adj" fmla="val 5949"/>
            </a:avLst>
          </a:prstGeom>
          <a:solidFill>
            <a:srgbClr val="FFFFFF"/>
          </a:solidFill>
          <a:ln w="6350">
            <a:solidFill>
              <a:srgbClr val="DEDAD0"/>
            </a:solidFill>
            <a:prstDash val="solid"/>
          </a:ln>
        </p:spPr>
        <p:txBody>
          <a:bodyPr/>
          <a:lstStyle/>
          <a:p>
            <a:endParaRPr lang="en-US"/>
          </a:p>
        </p:txBody>
      </p:sp>
      <p:sp>
        <p:nvSpPr>
          <p:cNvPr id="5" name="Text 3"/>
          <p:cNvSpPr/>
          <p:nvPr/>
        </p:nvSpPr>
        <p:spPr>
          <a:xfrm>
            <a:off x="1022350" y="1949351"/>
            <a:ext cx="4931537"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A63B8"/>
                </a:solidFill>
                <a:latin typeface="Source Serif 4" pitchFamily="18" charset="0"/>
                <a:ea typeface="Source Serif 4" pitchFamily="18" charset="-122"/>
                <a:cs typeface="Source Serif 4" pitchFamily="18" charset="-120"/>
              </a:rPr>
              <a:t>+.66%</a:t>
            </a:r>
            <a:endParaRPr lang="en-US" sz="2800" dirty="0"/>
          </a:p>
        </p:txBody>
      </p:sp>
      <p:sp>
        <p:nvSpPr>
          <p:cNvPr id="6" name="Text 4"/>
          <p:cNvSpPr/>
          <p:nvPr/>
        </p:nvSpPr>
        <p:spPr>
          <a:xfrm>
            <a:off x="1022350" y="2497931"/>
            <a:ext cx="4931537" cy="718641"/>
          </a:xfrm>
          <a:prstGeom prst="rect">
            <a:avLst/>
          </a:prstGeom>
          <a:noFill/>
          <a:ln/>
        </p:spPr>
        <p:txBody>
          <a:bodyPr wrap="square" lIns="0" tIns="0" rIns="0" bIns="0" rtlCol="0" anchor="t">
            <a:normAutofit fontScale="77500" lnSpcReduction="20000"/>
          </a:bodyPr>
          <a:lstStyle/>
          <a:p>
            <a:r>
              <a:rPr lang="en-US" dirty="0"/>
              <a:t>Holding R&amp;D, shipbuilding, population, metro and region constant, a 1% increase in (1 + aerospace establishments) is associated with 0.66% more DoD dollars a year, on average.</a:t>
            </a:r>
            <a:endParaRPr lang="en-US" sz="1300" dirty="0"/>
          </a:p>
        </p:txBody>
      </p:sp>
      <p:sp>
        <p:nvSpPr>
          <p:cNvPr id="7" name="Shape 5"/>
          <p:cNvSpPr/>
          <p:nvPr/>
        </p:nvSpPr>
        <p:spPr>
          <a:xfrm>
            <a:off x="6175375" y="1742976"/>
            <a:ext cx="5200650" cy="1654572"/>
          </a:xfrm>
          <a:prstGeom prst="roundRect">
            <a:avLst>
              <a:gd name="adj" fmla="val 5949"/>
            </a:avLst>
          </a:prstGeom>
          <a:solidFill>
            <a:srgbClr val="FFFFFF"/>
          </a:solidFill>
          <a:ln w="6350">
            <a:solidFill>
              <a:srgbClr val="DEDAD0"/>
            </a:solidFill>
            <a:prstDash val="solid"/>
          </a:ln>
        </p:spPr>
        <p:txBody>
          <a:bodyPr/>
          <a:lstStyle/>
          <a:p>
            <a:endParaRPr lang="en-US"/>
          </a:p>
        </p:txBody>
      </p:sp>
      <p:sp>
        <p:nvSpPr>
          <p:cNvPr id="8" name="Text 6"/>
          <p:cNvSpPr/>
          <p:nvPr/>
        </p:nvSpPr>
        <p:spPr>
          <a:xfrm>
            <a:off x="6381750" y="1949351"/>
            <a:ext cx="4931537"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A63B8"/>
                </a:solidFill>
                <a:latin typeface="Source Serif 4" pitchFamily="18" charset="0"/>
                <a:ea typeface="Source Serif 4" pitchFamily="18" charset="-122"/>
                <a:cs typeface="Source Serif 4" pitchFamily="18" charset="-120"/>
              </a:rPr>
              <a:t>+.67%</a:t>
            </a:r>
            <a:endParaRPr lang="en-US" sz="2800" dirty="0"/>
          </a:p>
        </p:txBody>
      </p:sp>
      <p:sp>
        <p:nvSpPr>
          <p:cNvPr id="9" name="Text 7"/>
          <p:cNvSpPr/>
          <p:nvPr/>
        </p:nvSpPr>
        <p:spPr>
          <a:xfrm>
            <a:off x="6381750" y="2497931"/>
            <a:ext cx="4931537" cy="718641"/>
          </a:xfrm>
          <a:prstGeom prst="rect">
            <a:avLst/>
          </a:prstGeom>
          <a:noFill/>
          <a:ln/>
        </p:spPr>
        <p:txBody>
          <a:bodyPr wrap="square" lIns="0" tIns="0" rIns="0" bIns="0" rtlCol="0" anchor="t">
            <a:normAutofit fontScale="77500" lnSpcReduction="20000"/>
          </a:bodyPr>
          <a:lstStyle/>
          <a:p>
            <a:r>
              <a:rPr lang="en-US" dirty="0"/>
              <a:t>Holding aerospace, shipbuilding, population, metro and region constant, a 1% increase in (1 + R&amp;D establishments) is associated with 0.67% more DoD dollars a year, on average.</a:t>
            </a:r>
            <a:endParaRPr lang="en-US" sz="1300" dirty="0"/>
          </a:p>
        </p:txBody>
      </p:sp>
      <p:sp>
        <p:nvSpPr>
          <p:cNvPr id="10" name="Shape 8"/>
          <p:cNvSpPr/>
          <p:nvPr/>
        </p:nvSpPr>
        <p:spPr>
          <a:xfrm>
            <a:off x="815975" y="3556298"/>
            <a:ext cx="5200650" cy="1654572"/>
          </a:xfrm>
          <a:prstGeom prst="roundRect">
            <a:avLst>
              <a:gd name="adj" fmla="val 5949"/>
            </a:avLst>
          </a:prstGeom>
          <a:solidFill>
            <a:srgbClr val="FFFFFF"/>
          </a:solidFill>
          <a:ln w="6350">
            <a:solidFill>
              <a:srgbClr val="DEDAD0"/>
            </a:solidFill>
            <a:prstDash val="solid"/>
          </a:ln>
        </p:spPr>
        <p:txBody>
          <a:bodyPr/>
          <a:lstStyle/>
          <a:p>
            <a:endParaRPr lang="en-US"/>
          </a:p>
        </p:txBody>
      </p:sp>
      <p:sp>
        <p:nvSpPr>
          <p:cNvPr id="11" name="Text 9"/>
          <p:cNvSpPr/>
          <p:nvPr/>
        </p:nvSpPr>
        <p:spPr>
          <a:xfrm>
            <a:off x="1022350" y="3762673"/>
            <a:ext cx="4931537"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91D"/>
                </a:solidFill>
                <a:latin typeface="Source Serif 4" pitchFamily="18" charset="0"/>
                <a:ea typeface="Source Serif 4" pitchFamily="18" charset="-122"/>
                <a:cs typeface="Source Serif 4" pitchFamily="18" charset="-120"/>
              </a:rPr>
              <a:t>−34%</a:t>
            </a:r>
            <a:endParaRPr lang="en-US" sz="2800" dirty="0"/>
          </a:p>
        </p:txBody>
      </p:sp>
      <p:sp>
        <p:nvSpPr>
          <p:cNvPr id="12" name="Text 10"/>
          <p:cNvSpPr/>
          <p:nvPr/>
        </p:nvSpPr>
        <p:spPr>
          <a:xfrm>
            <a:off x="1022350" y="4311253"/>
            <a:ext cx="4931537" cy="718641"/>
          </a:xfrm>
          <a:prstGeom prst="rect">
            <a:avLst/>
          </a:prstGeom>
          <a:noFill/>
          <a:ln/>
        </p:spPr>
        <p:txBody>
          <a:bodyPr wrap="square" lIns="0" tIns="0" rIns="0" bIns="0" rtlCol="0" anchor="t">
            <a:normAutofit fontScale="77500" lnSpcReduction="20000"/>
          </a:bodyPr>
          <a:lstStyle/>
          <a:p>
            <a:r>
              <a:rPr lang="en-US" dirty="0"/>
              <a:t>Holding all three industries, population and region constant, nonmetro counties are associated with 34% fewer DoD dollars a year than metro counties, on average.</a:t>
            </a:r>
            <a:endParaRPr lang="en-US" sz="1300" dirty="0"/>
          </a:p>
        </p:txBody>
      </p:sp>
      <p:sp>
        <p:nvSpPr>
          <p:cNvPr id="13" name="Shape 11"/>
          <p:cNvSpPr/>
          <p:nvPr/>
        </p:nvSpPr>
        <p:spPr>
          <a:xfrm>
            <a:off x="6175375" y="3556298"/>
            <a:ext cx="5200650" cy="1654572"/>
          </a:xfrm>
          <a:prstGeom prst="roundRect">
            <a:avLst>
              <a:gd name="adj" fmla="val 5949"/>
            </a:avLst>
          </a:prstGeom>
          <a:solidFill>
            <a:srgbClr val="FFFFFF"/>
          </a:solidFill>
          <a:ln w="6350">
            <a:solidFill>
              <a:srgbClr val="DEDAD0"/>
            </a:solidFill>
            <a:prstDash val="solid"/>
          </a:ln>
        </p:spPr>
        <p:txBody>
          <a:bodyPr/>
          <a:lstStyle/>
          <a:p>
            <a:endParaRPr lang="en-US"/>
          </a:p>
        </p:txBody>
      </p:sp>
      <p:sp>
        <p:nvSpPr>
          <p:cNvPr id="14" name="Text 12"/>
          <p:cNvSpPr/>
          <p:nvPr/>
        </p:nvSpPr>
        <p:spPr>
          <a:xfrm>
            <a:off x="6381750" y="3762673"/>
            <a:ext cx="4931537"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A63B8"/>
                </a:solidFill>
                <a:latin typeface="Source Serif 4" pitchFamily="18" charset="0"/>
                <a:ea typeface="Source Serif 4" pitchFamily="18" charset="-122"/>
                <a:cs typeface="Source Serif 4" pitchFamily="18" charset="-120"/>
              </a:rPr>
              <a:t>+.22%</a:t>
            </a:r>
            <a:endParaRPr lang="en-US" sz="2800" dirty="0"/>
          </a:p>
        </p:txBody>
      </p:sp>
      <p:sp>
        <p:nvSpPr>
          <p:cNvPr id="15" name="Text 13"/>
          <p:cNvSpPr/>
          <p:nvPr/>
        </p:nvSpPr>
        <p:spPr>
          <a:xfrm>
            <a:off x="6381750" y="4311253"/>
            <a:ext cx="4931537" cy="718641"/>
          </a:xfrm>
          <a:prstGeom prst="rect">
            <a:avLst/>
          </a:prstGeom>
          <a:noFill/>
          <a:ln/>
        </p:spPr>
        <p:txBody>
          <a:bodyPr wrap="square" lIns="0" tIns="0" rIns="0" bIns="0" rtlCol="0" anchor="t">
            <a:normAutofit fontScale="77500" lnSpcReduction="20000"/>
          </a:bodyPr>
          <a:lstStyle/>
          <a:p>
            <a:r>
              <a:rPr lang="en-US" dirty="0"/>
              <a:t>Holding aerospace, R&amp;D, population, metro and region constant, a 1% increase in (1 + shipbuilding establishments) is associated with 0.22% more DoD dollars a year, on average.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MODEL FIT AND DIAGNOSTICS</a:t>
            </a:r>
            <a:endParaRPr lang="en-US" sz="1200" dirty="0"/>
          </a:p>
        </p:txBody>
      </p:sp>
      <p:sp>
        <p:nvSpPr>
          <p:cNvPr id="3" name="Text 1"/>
          <p:cNvSpPr>
            <a:spLocks noGrp="1"/>
          </p:cNvSpPr>
          <p:nvPr>
            <p:ph type="title"/>
          </p:nvPr>
        </p:nvSpPr>
        <p:spPr>
          <a:xfrm>
            <a:off x="812800" y="11023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Half the variation explained; spread is uneven</a:t>
            </a:r>
            <a:endParaRPr lang="en-US" sz="2800" dirty="0"/>
          </a:p>
        </p:txBody>
      </p:sp>
      <p:sp>
        <p:nvSpPr>
          <p:cNvPr id="4" name="Shape 2"/>
          <p:cNvSpPr/>
          <p:nvPr/>
        </p:nvSpPr>
        <p:spPr>
          <a:xfrm>
            <a:off x="815975" y="1692176"/>
            <a:ext cx="2520950" cy="1047651"/>
          </a:xfrm>
          <a:prstGeom prst="roundRect">
            <a:avLst>
              <a:gd name="adj" fmla="val 9395"/>
            </a:avLst>
          </a:prstGeom>
          <a:solidFill>
            <a:srgbClr val="FFFFFF"/>
          </a:solidFill>
          <a:ln w="6350">
            <a:solidFill>
              <a:srgbClr val="DEDAD0"/>
            </a:solidFill>
            <a:prstDash val="solid"/>
          </a:ln>
        </p:spPr>
        <p:txBody>
          <a:bodyPr/>
          <a:lstStyle/>
          <a:p>
            <a:endParaRPr lang="en-US"/>
          </a:p>
        </p:txBody>
      </p:sp>
      <p:sp>
        <p:nvSpPr>
          <p:cNvPr id="5" name="Text 3"/>
          <p:cNvSpPr/>
          <p:nvPr/>
        </p:nvSpPr>
        <p:spPr>
          <a:xfrm>
            <a:off x="1022350" y="184775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R²</a:t>
            </a:r>
            <a:endParaRPr lang="en-US" sz="1200" dirty="0"/>
          </a:p>
        </p:txBody>
      </p:sp>
      <p:sp>
        <p:nvSpPr>
          <p:cNvPr id="6" name="Text 4"/>
          <p:cNvSpPr/>
          <p:nvPr/>
        </p:nvSpPr>
        <p:spPr>
          <a:xfrm>
            <a:off x="1022350" y="2086471"/>
            <a:ext cx="2171446"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0.496</a:t>
            </a:r>
            <a:endParaRPr lang="en-US" sz="2800" dirty="0"/>
          </a:p>
        </p:txBody>
      </p:sp>
      <p:sp>
        <p:nvSpPr>
          <p:cNvPr id="7" name="Shape 5"/>
          <p:cNvSpPr/>
          <p:nvPr/>
        </p:nvSpPr>
        <p:spPr>
          <a:xfrm>
            <a:off x="3495675" y="1692176"/>
            <a:ext cx="2520950" cy="1047651"/>
          </a:xfrm>
          <a:prstGeom prst="roundRect">
            <a:avLst>
              <a:gd name="adj" fmla="val 9395"/>
            </a:avLst>
          </a:prstGeom>
          <a:solidFill>
            <a:srgbClr val="FFFFFF"/>
          </a:solidFill>
          <a:ln w="6350">
            <a:solidFill>
              <a:srgbClr val="DEDAD0"/>
            </a:solidFill>
            <a:prstDash val="solid"/>
          </a:ln>
        </p:spPr>
        <p:txBody>
          <a:bodyPr/>
          <a:lstStyle/>
          <a:p>
            <a:endParaRPr lang="en-US"/>
          </a:p>
        </p:txBody>
      </p:sp>
      <p:sp>
        <p:nvSpPr>
          <p:cNvPr id="8" name="Text 6"/>
          <p:cNvSpPr/>
          <p:nvPr/>
        </p:nvSpPr>
        <p:spPr>
          <a:xfrm>
            <a:off x="3702050" y="184775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Adjusted R²</a:t>
            </a:r>
            <a:endParaRPr lang="en-US" sz="1200" dirty="0"/>
          </a:p>
        </p:txBody>
      </p:sp>
      <p:sp>
        <p:nvSpPr>
          <p:cNvPr id="9" name="Text 7"/>
          <p:cNvSpPr/>
          <p:nvPr/>
        </p:nvSpPr>
        <p:spPr>
          <a:xfrm>
            <a:off x="3702050" y="2086471"/>
            <a:ext cx="2171446"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0.494</a:t>
            </a:r>
            <a:endParaRPr lang="en-US" sz="2800" dirty="0"/>
          </a:p>
        </p:txBody>
      </p:sp>
      <p:sp>
        <p:nvSpPr>
          <p:cNvPr id="10" name="Shape 8"/>
          <p:cNvSpPr/>
          <p:nvPr/>
        </p:nvSpPr>
        <p:spPr>
          <a:xfrm>
            <a:off x="6175375" y="1692176"/>
            <a:ext cx="2520950" cy="1047651"/>
          </a:xfrm>
          <a:prstGeom prst="roundRect">
            <a:avLst>
              <a:gd name="adj" fmla="val 9395"/>
            </a:avLst>
          </a:prstGeom>
          <a:solidFill>
            <a:srgbClr val="FFFFFF"/>
          </a:solidFill>
          <a:ln w="6350">
            <a:solidFill>
              <a:srgbClr val="DEDAD0"/>
            </a:solidFill>
            <a:prstDash val="solid"/>
          </a:ln>
        </p:spPr>
        <p:txBody>
          <a:bodyPr/>
          <a:lstStyle/>
          <a:p>
            <a:endParaRPr lang="en-US"/>
          </a:p>
        </p:txBody>
      </p:sp>
      <p:sp>
        <p:nvSpPr>
          <p:cNvPr id="11" name="Text 9"/>
          <p:cNvSpPr/>
          <p:nvPr/>
        </p:nvSpPr>
        <p:spPr>
          <a:xfrm>
            <a:off x="6381750" y="184775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 (log DoD $)</a:t>
            </a:r>
            <a:endParaRPr lang="en-US" sz="1200" dirty="0"/>
          </a:p>
        </p:txBody>
      </p:sp>
      <p:sp>
        <p:nvSpPr>
          <p:cNvPr id="12" name="Text 10"/>
          <p:cNvSpPr/>
          <p:nvPr/>
        </p:nvSpPr>
        <p:spPr>
          <a:xfrm>
            <a:off x="6381750" y="2086471"/>
            <a:ext cx="2171446"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2.630</a:t>
            </a:r>
            <a:endParaRPr lang="en-US" sz="2800" dirty="0"/>
          </a:p>
        </p:txBody>
      </p:sp>
      <p:sp>
        <p:nvSpPr>
          <p:cNvPr id="13" name="Shape 11"/>
          <p:cNvSpPr/>
          <p:nvPr/>
        </p:nvSpPr>
        <p:spPr>
          <a:xfrm>
            <a:off x="8855075" y="1692176"/>
            <a:ext cx="2520950" cy="1047651"/>
          </a:xfrm>
          <a:prstGeom prst="roundRect">
            <a:avLst>
              <a:gd name="adj" fmla="val 9395"/>
            </a:avLst>
          </a:prstGeom>
          <a:solidFill>
            <a:srgbClr val="FFFFFF"/>
          </a:solidFill>
          <a:ln w="6350">
            <a:solidFill>
              <a:srgbClr val="DEDAD0"/>
            </a:solidFill>
            <a:prstDash val="solid"/>
          </a:ln>
        </p:spPr>
        <p:txBody>
          <a:bodyPr/>
          <a:lstStyle/>
          <a:p>
            <a:endParaRPr lang="en-US"/>
          </a:p>
        </p:txBody>
      </p:sp>
      <p:sp>
        <p:nvSpPr>
          <p:cNvPr id="14" name="Text 12"/>
          <p:cNvSpPr/>
          <p:nvPr/>
        </p:nvSpPr>
        <p:spPr>
          <a:xfrm>
            <a:off x="9061450" y="1847751"/>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Largest VIF</a:t>
            </a:r>
            <a:endParaRPr lang="en-US" sz="1200" dirty="0"/>
          </a:p>
        </p:txBody>
      </p:sp>
      <p:sp>
        <p:nvSpPr>
          <p:cNvPr id="15" name="Text 13"/>
          <p:cNvSpPr/>
          <p:nvPr/>
        </p:nvSpPr>
        <p:spPr>
          <a:xfrm>
            <a:off x="9061450" y="2086471"/>
            <a:ext cx="2171446"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3.81</a:t>
            </a:r>
            <a:endParaRPr lang="en-US" sz="2800" dirty="0"/>
          </a:p>
        </p:txBody>
      </p:sp>
      <p:sp>
        <p:nvSpPr>
          <p:cNvPr id="16" name="Shape 14"/>
          <p:cNvSpPr/>
          <p:nvPr/>
        </p:nvSpPr>
        <p:spPr>
          <a:xfrm>
            <a:off x="812800" y="2920802"/>
            <a:ext cx="4826000" cy="2463800"/>
          </a:xfrm>
          <a:prstGeom prst="roundRect">
            <a:avLst>
              <a:gd name="adj" fmla="val 4124"/>
            </a:avLst>
          </a:prstGeom>
          <a:solidFill>
            <a:srgbClr val="FFFFFF"/>
          </a:solidFill>
          <a:ln/>
        </p:spPr>
        <p:txBody>
          <a:bodyPr/>
          <a:lstStyle/>
          <a:p>
            <a:endParaRPr lang="en-US"/>
          </a:p>
        </p:txBody>
      </p:sp>
      <p:pic>
        <p:nvPicPr>
          <p:cNvPr id="17" name="Image 0" descr="Residuals vs fitted: residuals spread wider at low fitted values and narrower at high fitted values, centered on zero"/>
          <p:cNvPicPr>
            <a:picLocks noChangeAspect="1"/>
          </p:cNvPicPr>
          <p:nvPr/>
        </p:nvPicPr>
        <p:blipFill>
          <a:blip r:embed="rId3"/>
          <a:srcRect l="-57" r="-57"/>
          <a:stretch/>
        </p:blipFill>
        <p:spPr>
          <a:xfrm>
            <a:off x="812800" y="2920802"/>
            <a:ext cx="4826000" cy="2463800"/>
          </a:xfrm>
          <a:prstGeom prst="roundRect">
            <a:avLst>
              <a:gd name="adj" fmla="val 4124"/>
            </a:avLst>
          </a:prstGeom>
        </p:spPr>
      </p:pic>
      <p:sp>
        <p:nvSpPr>
          <p:cNvPr id="18" name="Text 15"/>
          <p:cNvSpPr/>
          <p:nvPr/>
        </p:nvSpPr>
        <p:spPr>
          <a:xfrm>
            <a:off x="5842000" y="2920802"/>
            <a:ext cx="57033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3D"/>
                </a:solidFill>
                <a:latin typeface="IBM Plex Sans" pitchFamily="34" charset="0"/>
                <a:ea typeface="IBM Plex Sans" pitchFamily="34" charset="-122"/>
                <a:cs typeface="IBM Plex Sans" pitchFamily="34" charset="-120"/>
              </a:rPr>
              <a:t>Multicollinearity: OK.</a:t>
            </a:r>
            <a:r>
              <a:rPr lang="en-US" sz="1300" dirty="0">
                <a:solidFill>
                  <a:srgbClr val="1F2A3D"/>
                </a:solidFill>
                <a:latin typeface="IBM Plex Sans" pitchFamily="34" charset="0"/>
                <a:ea typeface="IBM Plex Sans" pitchFamily="34" charset="-122"/>
                <a:cs typeface="IBM Plex Sans" pitchFamily="34" charset="-120"/>
              </a:rPr>
              <a:t> All VIFs 1.3 to 3.8, under 5.</a:t>
            </a:r>
            <a:endParaRPr lang="en-US" sz="1300" dirty="0"/>
          </a:p>
        </p:txBody>
      </p:sp>
      <p:sp>
        <p:nvSpPr>
          <p:cNvPr id="19" name="Text 16"/>
          <p:cNvSpPr/>
          <p:nvPr/>
        </p:nvSpPr>
        <p:spPr>
          <a:xfrm>
            <a:off x="5842000" y="3278882"/>
            <a:ext cx="570331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2A3D"/>
                </a:solidFill>
                <a:latin typeface="IBM Plex Sans" pitchFamily="34" charset="0"/>
                <a:ea typeface="IBM Plex Sans" pitchFamily="34" charset="-122"/>
                <a:cs typeface="IBM Plex Sans" pitchFamily="34" charset="-120"/>
              </a:rPr>
              <a:t>Residual check: fails on equal spread.</a:t>
            </a:r>
            <a:r>
              <a:rPr lang="en-US" sz="1300" dirty="0">
                <a:solidFill>
                  <a:srgbClr val="1F2A3D"/>
                </a:solidFill>
                <a:latin typeface="IBM Plex Sans" pitchFamily="34" charset="0"/>
                <a:ea typeface="IBM Plex Sans" pitchFamily="34" charset="-122"/>
                <a:cs typeface="IBM Plex Sans" pitchFamily="34" charset="-120"/>
              </a:rPr>
              <a:t> Residuals center on 0 with no curve, but the band is wider for small-dollar counties and narrower for large ones.</a:t>
            </a:r>
            <a:endParaRPr lang="en-US" sz="1300" dirty="0"/>
          </a:p>
        </p:txBody>
      </p:sp>
      <p:sp>
        <p:nvSpPr>
          <p:cNvPr id="20" name="Text 17"/>
          <p:cNvSpPr/>
          <p:nvPr/>
        </p:nvSpPr>
        <p:spPr>
          <a:xfrm>
            <a:off x="5842000" y="4099123"/>
            <a:ext cx="57033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5491D"/>
                </a:solidFill>
                <a:latin typeface="IBM Plex Sans" pitchFamily="34" charset="0"/>
                <a:ea typeface="IBM Plex Sans" pitchFamily="34" charset="-122"/>
                <a:cs typeface="IBM Plex Sans" pitchFamily="34" charset="-120"/>
              </a:rPr>
              <a:t>So:</a:t>
            </a:r>
            <a:r>
              <a:rPr lang="en-US" sz="1300" dirty="0">
                <a:solidFill>
                  <a:srgbClr val="B5491D"/>
                </a:solidFill>
                <a:latin typeface="IBM Plex Sans" pitchFamily="34" charset="0"/>
                <a:ea typeface="IBM Plex Sans" pitchFamily="34" charset="-122"/>
                <a:cs typeface="IBM Plex Sans" pitchFamily="34" charset="-120"/>
              </a:rPr>
              <a:t> coefficients are usable; p-values and intervals are less reliable.</a:t>
            </a:r>
            <a:endParaRPr lang="en-US" sz="13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n = 2,125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PREDICTION · A TYPICAL COUNTY</a:t>
            </a:r>
            <a:endParaRPr lang="en-US" sz="1200" dirty="0"/>
          </a:p>
        </p:txBody>
      </p:sp>
      <p:sp>
        <p:nvSpPr>
          <p:cNvPr id="3" name="Text 1"/>
          <p:cNvSpPr>
            <a:spLocks noGrp="1"/>
          </p:cNvSpPr>
          <p:nvPr>
            <p:ph type="title"/>
          </p:nvPr>
        </p:nvSpPr>
        <p:spPr>
          <a:xfrm>
            <a:off x="812800" y="1102320"/>
            <a:ext cx="10883392" cy="843161"/>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For a typical county, one aerospace firm goes with the biggest jump</a:t>
            </a:r>
            <a:endParaRPr lang="en-US" sz="2800" dirty="0"/>
          </a:p>
        </p:txBody>
      </p:sp>
      <p:sp>
        <p:nvSpPr>
          <p:cNvPr id="4" name="Text 2"/>
          <p:cNvSpPr/>
          <p:nvPr/>
        </p:nvSpPr>
        <p:spPr>
          <a:xfrm>
            <a:off x="812800" y="209788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Typical county: sample medians (0 aerospace, 2 R&amp;D, 0 shipbuilding, population 43,086), Nonmetro, South</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519462"/>
          <a:ext cx="10553700" cy="1929805"/>
        </p:xfrm>
        <a:graphic>
          <a:graphicData uri="http://schemas.openxmlformats.org/drawingml/2006/table">
            <a:tbl>
              <a:tblPr/>
              <a:tblGrid>
                <a:gridCol w="4221480">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Profile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Predicted average DoD $/yr</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95% CI for the average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Typical county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$0.62M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$0.48M to $0.79M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+1 aerospace establishment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$0.97M</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$0.77M to $1.24M</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+1 R&amp;D establishment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$0.75M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$0.58M to $0.96M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F2A3D"/>
                          </a:solidFill>
                          <a:latin typeface="IBM Plex Sans" pitchFamily="34" charset="0"/>
                          <a:ea typeface="IBM Plex Sans" pitchFamily="34" charset="-122"/>
                          <a:cs typeface="IBM Plex Sans" pitchFamily="34" charset="-120"/>
                        </a:rPr>
                        <a:t>+1 shipbuilding establishment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$0.72M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F2A3D"/>
                          </a:solidFill>
                          <a:latin typeface="IBM Plex Sans" pitchFamily="34" charset="0"/>
                          <a:ea typeface="IBM Plex Sans" pitchFamily="34" charset="-122"/>
                          <a:cs typeface="IBM Plex Sans" pitchFamily="34" charset="-120"/>
                        </a:rPr>
                        <a:t>$0.56M to $0.92M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12800" y="4627066"/>
            <a:ext cx="10566400" cy="1081881"/>
          </a:xfrm>
          <a:prstGeom prst="roundRect">
            <a:avLst>
              <a:gd name="adj" fmla="val 9391"/>
            </a:avLst>
          </a:prstGeom>
          <a:solidFill>
            <a:srgbClr val="14213D"/>
          </a:solidFill>
          <a:ln/>
        </p:spPr>
        <p:txBody>
          <a:bodyPr/>
          <a:lstStyle/>
          <a:p>
            <a:endParaRPr lang="en-US"/>
          </a:p>
        </p:txBody>
      </p:sp>
      <p:sp>
        <p:nvSpPr>
          <p:cNvPr id="7" name="Text 4"/>
          <p:cNvSpPr/>
          <p:nvPr/>
        </p:nvSpPr>
        <p:spPr>
          <a:xfrm>
            <a:off x="1041400" y="4804866"/>
            <a:ext cx="1041247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One single typical county: 95% prediction interval $3,500 to $108M</a:t>
            </a:r>
            <a:endParaRPr lang="en-US" sz="1400" dirty="0"/>
          </a:p>
        </p:txBody>
      </p:sp>
      <p:sp>
        <p:nvSpPr>
          <p:cNvPr id="8" name="Text 5"/>
          <p:cNvSpPr/>
          <p:nvPr/>
        </p:nvSpPr>
        <p:spPr>
          <a:xfrm>
            <a:off x="1041400" y="5104507"/>
            <a:ext cx="1041247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4"/>
                </a:solidFill>
                <a:latin typeface="IBM Plex Sans" pitchFamily="34" charset="0"/>
                <a:ea typeface="IBM Plex Sans" pitchFamily="34" charset="-122"/>
                <a:cs typeface="IBM Plex Sans" pitchFamily="34" charset="-120"/>
              </a:rPr>
              <a:t>log scale: 13.330 ± 1.961 × 2.633 = [8.167, 18.494]. The model pins down the average well; any one county varies far more. 95.0% of our counties fall inside their own interval.</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CI = average of all such counties; prediction interval = one county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3B8"/>
                </a:solidFill>
                <a:latin typeface="IBM Plex Sans" pitchFamily="34" charset="0"/>
                <a:ea typeface="IBM Plex Sans" pitchFamily="34" charset="-122"/>
                <a:cs typeface="IBM Plex Sans" pitchFamily="34" charset="-120"/>
              </a:rPr>
              <a:t>RECOMMENDATION</a:t>
            </a:r>
            <a:endParaRPr lang="en-US" sz="1200" dirty="0"/>
          </a:p>
        </p:txBody>
      </p:sp>
      <p:sp>
        <p:nvSpPr>
          <p:cNvPr id="3" name="Text 1"/>
          <p:cNvSpPr>
            <a:spLocks noGrp="1"/>
          </p:cNvSpPr>
          <p:nvPr>
            <p:ph type="title"/>
          </p:nvPr>
        </p:nvSpPr>
        <p:spPr>
          <a:xfrm>
            <a:off x="812800" y="10769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Prioritize aerospace or R&amp;D; shipbuilding trails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0901"/>
          <a:ext cx="10553700" cy="1330324"/>
        </p:xfrm>
        <a:graphic>
          <a:graphicData uri="http://schemas.openxmlformats.org/drawingml/2006/table">
            <a:tbl>
              <a:tblPr/>
              <a:tblGrid>
                <a:gridCol w="2743962">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1055370">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899666">
                  <a:extLst>
                    <a:ext uri="{9D8B030D-6E8A-4147-A177-3AD203B41FA5}">
                      <a16:colId xmlns:a16="http://schemas.microsoft.com/office/drawing/2014/main" val="20004"/>
                    </a:ext>
                  </a:extLst>
                </a:gridCol>
                <a:gridCol w="2532888">
                  <a:extLst>
                    <a:ext uri="{9D8B030D-6E8A-4147-A177-3AD203B41FA5}">
                      <a16:colId xmlns:a16="http://schemas.microsoft.com/office/drawing/2014/main" val="20005"/>
                    </a:ext>
                  </a:extLst>
                </a:gridCol>
              </a:tblGrid>
              <a:tr h="332581">
                <a:tc>
                  <a:txBody>
                    <a:bodyPr/>
                    <a:lstStyle/>
                    <a:p>
                      <a:pPr marL="0" indent="0">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t-test (H0: b = 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b</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p</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95% CI</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Decision (α = 0.05)</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Aerospace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0.663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6.13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0.45 to 0.88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Reject H0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R&amp;D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0.673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9.13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&lt;0.001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0.53 to 0.82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Reject H0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Shipbuilding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0.218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2.06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0.039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0.01 to 0.43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Reject H0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825500" y="3146326"/>
          <a:ext cx="10553700" cy="1662905"/>
        </p:xfrm>
        <a:graphic>
          <a:graphicData uri="http://schemas.openxmlformats.org/drawingml/2006/table">
            <a:tbl>
              <a:tblPr/>
              <a:tblGrid>
                <a:gridCol w="3588258">
                  <a:extLst>
                    <a:ext uri="{9D8B030D-6E8A-4147-A177-3AD203B41FA5}">
                      <a16:colId xmlns:a16="http://schemas.microsoft.com/office/drawing/2014/main" val="20000"/>
                    </a:ext>
                  </a:extLst>
                </a:gridCol>
                <a:gridCol w="949833">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gridCol w="949833">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266444">
                  <a:extLst>
                    <a:ext uri="{9D8B030D-6E8A-4147-A177-3AD203B41FA5}">
                      <a16:colId xmlns:a16="http://schemas.microsoft.com/office/drawing/2014/main" val="20005"/>
                    </a:ext>
                  </a:extLst>
                </a:gridCol>
                <a:gridCol w="1266444">
                  <a:extLst>
                    <a:ext uri="{9D8B030D-6E8A-4147-A177-3AD203B41FA5}">
                      <a16:colId xmlns:a16="http://schemas.microsoft.com/office/drawing/2014/main" val="20006"/>
                    </a:ext>
                  </a:extLst>
                </a:gridCol>
              </a:tblGrid>
              <a:tr h="332581">
                <a:tc>
                  <a:txBody>
                    <a:bodyPr/>
                    <a:lstStyle/>
                    <a:p>
                      <a:pPr marL="0" indent="0">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Competing models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n</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Adj. R²</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se</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b aero</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b R&amp;D</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gn="r">
                        <a:lnSpc>
                          <a:spcPts val="1680"/>
                        </a:lnSpc>
                        <a:buNone/>
                      </a:pPr>
                      <a:r>
                        <a:rPr lang="en-US" sz="1200" b="1" dirty="0">
                          <a:solidFill>
                            <a:srgbClr val="1F2A3D"/>
                          </a:solidFill>
                          <a:latin typeface="IBM Plex Sans" pitchFamily="34" charset="0"/>
                          <a:ea typeface="IBM Plex Sans" pitchFamily="34" charset="-122"/>
                          <a:cs typeface="IBM Plex Sans" pitchFamily="34" charset="-120"/>
                        </a:rPr>
                        <a:t>b ship</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A · Main model (used)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2,125</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0.494</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2.63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0.67</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0.22</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CC6"/>
                      </a:solidFill>
                      <a:prstDash val="solid"/>
                      <a:round/>
                      <a:headEnd type="none" w="med" len="med"/>
                      <a:tailEnd type="none" w="med" len="med"/>
                    </a:lnL>
                    <a:lnR w="12700" cap="flat" cmpd="sng" algn="ctr">
                      <a:solidFill>
                        <a:srgbClr val="B5BCC6"/>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B5BCC6"/>
                      </a:solidFill>
                      <a:prstDash val="solid"/>
                      <a:round/>
                      <a:headEnd type="none" w="med" len="med"/>
                      <a:tailEnd type="none" w="med" len="med"/>
                    </a:lnB>
                    <a:solidFill>
                      <a:srgbClr val="E3ECF8"/>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B · Industries only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2,125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0.454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2.73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0.86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1.30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0.38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5BC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C · Main + federal jobs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2,125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0.543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0.21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3D"/>
                          </a:solidFill>
                          <a:latin typeface="IBM Plex Sans" pitchFamily="34" charset="0"/>
                          <a:ea typeface="IBM Plex Sans" pitchFamily="34" charset="-122"/>
                          <a:cs typeface="IBM Plex Sans" pitchFamily="34" charset="-120"/>
                        </a:rPr>
                        <a:t>D · Main, 2017–19 DoD $</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1,971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0.475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2.34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0.65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680"/>
                        </a:lnSpc>
                        <a:buNone/>
                      </a:pPr>
                      <a:r>
                        <a:rPr lang="en-US" sz="1200" dirty="0">
                          <a:solidFill>
                            <a:srgbClr val="1F2A3D"/>
                          </a:solidFill>
                          <a:latin typeface="IBM Plex Sans" pitchFamily="34" charset="0"/>
                          <a:ea typeface="IBM Plex Sans" pitchFamily="34" charset="-122"/>
                          <a:cs typeface="IBM Plex Sans" pitchFamily="34" charset="-120"/>
                        </a:rPr>
                        <a:t>0.25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812800" y="496163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Shipbuilding’s CI ends at 0.43, below where aerospace’s (0.45) and R&amp;D’s (0.53) begin. Aerospace and R&amp;D overlap, so we can’t rank them. The ranking holds in all four models.</a:t>
            </a:r>
            <a:endParaRPr lang="en-US" sz="1200" dirty="0"/>
          </a:p>
        </p:txBody>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 · extra credit: t-tests, confidence intervals, competing models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91D"/>
                </a:solidFill>
                <a:latin typeface="IBM Plex Sans" pitchFamily="34" charset="0"/>
                <a:ea typeface="IBM Plex Sans" pitchFamily="34" charset="-122"/>
                <a:cs typeface="IBM Plex Sans" pitchFamily="34" charset="-120"/>
              </a:rPr>
              <a:t>LIMITS</a:t>
            </a:r>
            <a:endParaRPr lang="en-US" sz="1200" dirty="0"/>
          </a:p>
        </p:txBody>
      </p:sp>
      <p:sp>
        <p:nvSpPr>
          <p:cNvPr id="3" name="Text 1"/>
          <p:cNvSpPr>
            <a:spLocks noGrp="1"/>
          </p:cNvSpPr>
          <p:nvPr>
            <p:ph type="title"/>
          </p:nvPr>
        </p:nvSpPr>
        <p:spPr>
          <a:xfrm>
            <a:off x="812800" y="10769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What this analysis cannot support</a:t>
            </a:r>
            <a:endParaRPr lang="en-US" sz="2800" dirty="0"/>
          </a:p>
        </p:txBody>
      </p:sp>
      <p:sp>
        <p:nvSpPr>
          <p:cNvPr id="4" name="Shape 2"/>
          <p:cNvSpPr/>
          <p:nvPr/>
        </p:nvSpPr>
        <p:spPr>
          <a:xfrm>
            <a:off x="815975" y="1641376"/>
            <a:ext cx="10560050" cy="1024731"/>
          </a:xfrm>
          <a:prstGeom prst="roundRect">
            <a:avLst>
              <a:gd name="adj" fmla="val 9605"/>
            </a:avLst>
          </a:prstGeom>
          <a:solidFill>
            <a:srgbClr val="FFFFFF"/>
          </a:solidFill>
          <a:ln w="6350">
            <a:solidFill>
              <a:srgbClr val="DEDAD0"/>
            </a:solidFill>
            <a:prstDash val="solid"/>
          </a:ln>
        </p:spPr>
        <p:txBody>
          <a:bodyPr/>
          <a:lstStyle/>
          <a:p>
            <a:endParaRPr lang="en-US"/>
          </a:p>
        </p:txBody>
      </p:sp>
      <p:sp>
        <p:nvSpPr>
          <p:cNvPr id="5" name="Text 3"/>
          <p:cNvSpPr/>
          <p:nvPr/>
        </p:nvSpPr>
        <p:spPr>
          <a:xfrm>
            <a:off x="1022350" y="1796951"/>
            <a:ext cx="1045171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Cause and effect</a:t>
            </a:r>
            <a:endParaRPr lang="en-US" sz="1400" dirty="0"/>
          </a:p>
        </p:txBody>
      </p:sp>
      <p:sp>
        <p:nvSpPr>
          <p:cNvPr id="6" name="Text 4"/>
          <p:cNvSpPr/>
          <p:nvPr/>
        </p:nvSpPr>
        <p:spPr>
          <a:xfrm>
            <a:off x="1022350" y="2083891"/>
            <a:ext cx="10451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DoD dollars may attract establishments as much as the reverse, and both are measured at the same time. Incentives are not proven to raise contracts.</a:t>
            </a:r>
            <a:endParaRPr lang="en-US" sz="1200" dirty="0"/>
          </a:p>
        </p:txBody>
      </p:sp>
      <p:sp>
        <p:nvSpPr>
          <p:cNvPr id="10" name="Shape 8"/>
          <p:cNvSpPr/>
          <p:nvPr/>
        </p:nvSpPr>
        <p:spPr>
          <a:xfrm>
            <a:off x="812800" y="3023294"/>
            <a:ext cx="10560050" cy="811411"/>
          </a:xfrm>
          <a:prstGeom prst="roundRect">
            <a:avLst>
              <a:gd name="adj" fmla="val 12130"/>
            </a:avLst>
          </a:prstGeom>
          <a:solidFill>
            <a:srgbClr val="FFFFFF"/>
          </a:solidFill>
          <a:ln w="6350">
            <a:solidFill>
              <a:srgbClr val="DEDAD0"/>
            </a:solidFill>
            <a:prstDash val="solid"/>
          </a:ln>
        </p:spPr>
        <p:txBody>
          <a:bodyPr/>
          <a:lstStyle/>
          <a:p>
            <a:endParaRPr lang="en-US"/>
          </a:p>
        </p:txBody>
      </p:sp>
      <p:sp>
        <p:nvSpPr>
          <p:cNvPr id="11" name="Text 9"/>
          <p:cNvSpPr/>
          <p:nvPr/>
        </p:nvSpPr>
        <p:spPr>
          <a:xfrm>
            <a:off x="1022349" y="3135859"/>
            <a:ext cx="1045171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Failed diagnostic: unequal spread</a:t>
            </a:r>
            <a:endParaRPr lang="en-US" sz="1400" dirty="0"/>
          </a:p>
        </p:txBody>
      </p:sp>
      <p:sp>
        <p:nvSpPr>
          <p:cNvPr id="12" name="Text 10"/>
          <p:cNvSpPr/>
          <p:nvPr/>
        </p:nvSpPr>
        <p:spPr>
          <a:xfrm>
            <a:off x="1022348" y="3417492"/>
            <a:ext cx="104517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Residuals are wider at low fitted values, so p-values and intervals are less reliable.</a:t>
            </a:r>
            <a:endParaRPr lang="en-US" sz="1200" dirty="0"/>
          </a:p>
        </p:txBody>
      </p:sp>
      <p:sp>
        <p:nvSpPr>
          <p:cNvPr id="13" name="Shape 11"/>
          <p:cNvSpPr/>
          <p:nvPr/>
        </p:nvSpPr>
        <p:spPr>
          <a:xfrm>
            <a:off x="812800" y="4069061"/>
            <a:ext cx="10560050" cy="811411"/>
          </a:xfrm>
          <a:prstGeom prst="roundRect">
            <a:avLst>
              <a:gd name="adj" fmla="val 12130"/>
            </a:avLst>
          </a:prstGeom>
          <a:solidFill>
            <a:srgbClr val="FFFFFF"/>
          </a:solidFill>
          <a:ln w="6350">
            <a:solidFill>
              <a:srgbClr val="DEDAD0"/>
            </a:solidFill>
            <a:prstDash val="solid"/>
          </a:ln>
        </p:spPr>
        <p:txBody>
          <a:bodyPr/>
          <a:lstStyle/>
          <a:p>
            <a:endParaRPr lang="en-US"/>
          </a:p>
        </p:txBody>
      </p:sp>
      <p:sp>
        <p:nvSpPr>
          <p:cNvPr id="15" name="Text 13"/>
          <p:cNvSpPr/>
          <p:nvPr/>
        </p:nvSpPr>
        <p:spPr>
          <a:xfrm>
            <a:off x="1022348" y="4418751"/>
            <a:ext cx="104517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Military bases and other drivers are not in the model; half the variation is unexplained, so single-county predictions are imprecise.</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MSBA 501 · DoD contracts and defense industries</a:t>
            </a:r>
            <a:endParaRPr lang="en-US" sz="1200" dirty="0"/>
          </a:p>
        </p:txBody>
      </p:sp>
      <p:sp>
        <p:nvSpPr>
          <p:cNvPr id="17" name="Text 12">
            <a:extLst>
              <a:ext uri="{FF2B5EF4-FFF2-40B4-BE49-F238E27FC236}">
                <a16:creationId xmlns:a16="http://schemas.microsoft.com/office/drawing/2014/main" id="{C2801DC5-504D-7393-3EFA-23418780BD4A}"/>
              </a:ext>
            </a:extLst>
          </p:cNvPr>
          <p:cNvSpPr/>
          <p:nvPr/>
        </p:nvSpPr>
        <p:spPr>
          <a:xfrm>
            <a:off x="1022348" y="4148335"/>
            <a:ext cx="1045171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2A3D"/>
                </a:solidFill>
                <a:latin typeface="IBM Plex Sans" pitchFamily="34" charset="0"/>
                <a:ea typeface="IBM Plex Sans" pitchFamily="34" charset="-122"/>
                <a:cs typeface="IBM Plex Sans" pitchFamily="34" charset="-120"/>
              </a:rPr>
              <a:t>Missing factors and wide intervals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8EE"/>
                </a:solidFill>
                <a:latin typeface="IBM Plex Sans" pitchFamily="34" charset="0"/>
                <a:ea typeface="IBM Plex Sans" pitchFamily="34" charset="-122"/>
                <a:cs typeface="IBM Plex Sans" pitchFamily="34" charset="-120"/>
              </a:rPr>
              <a:t>AI STATEMENT</a:t>
            </a:r>
            <a:endParaRPr lang="en-US" sz="1200" dirty="0"/>
          </a:p>
        </p:txBody>
      </p:sp>
      <p:sp>
        <p:nvSpPr>
          <p:cNvPr id="3" name="Text 1"/>
          <p:cNvSpPr>
            <a:spLocks noGrp="1"/>
          </p:cNvSpPr>
          <p:nvPr>
            <p:ph type="title"/>
          </p:nvPr>
        </p:nvSpPr>
        <p:spPr>
          <a:xfrm>
            <a:off x="812800" y="117852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F4F2EC"/>
                </a:solidFill>
                <a:latin typeface="Source Serif 4" pitchFamily="18" charset="0"/>
                <a:ea typeface="Source Serif 4" pitchFamily="18" charset="-122"/>
                <a:cs typeface="Source Serif 4" pitchFamily="18" charset="-120"/>
              </a:rPr>
              <a:t>How we used AI, and how we checked it</a:t>
            </a:r>
            <a:endParaRPr lang="en-US" sz="2800" dirty="0"/>
          </a:p>
        </p:txBody>
      </p:sp>
      <p:sp>
        <p:nvSpPr>
          <p:cNvPr id="4" name="Shape 2"/>
          <p:cNvSpPr/>
          <p:nvPr/>
        </p:nvSpPr>
        <p:spPr>
          <a:xfrm>
            <a:off x="812800" y="1841401"/>
            <a:ext cx="3623766" cy="1320602"/>
          </a:xfrm>
          <a:prstGeom prst="roundRect">
            <a:avLst>
              <a:gd name="adj" fmla="val 7693"/>
            </a:avLst>
          </a:prstGeom>
          <a:solidFill>
            <a:srgbClr val="1E2E52"/>
          </a:solidFill>
          <a:ln/>
        </p:spPr>
        <p:txBody>
          <a:bodyPr/>
          <a:lstStyle/>
          <a:p>
            <a:endParaRPr lang="en-US"/>
          </a:p>
        </p:txBody>
      </p:sp>
      <p:sp>
        <p:nvSpPr>
          <p:cNvPr id="5" name="Text 3"/>
          <p:cNvSpPr/>
          <p:nvPr/>
        </p:nvSpPr>
        <p:spPr>
          <a:xfrm>
            <a:off x="1066800" y="2095401"/>
            <a:ext cx="320923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8EE"/>
                </a:solidFill>
                <a:latin typeface="IBM Plex Sans" pitchFamily="34" charset="0"/>
                <a:ea typeface="IBM Plex Sans" pitchFamily="34" charset="-122"/>
                <a:cs typeface="IBM Plex Sans" pitchFamily="34" charset="-120"/>
              </a:rPr>
              <a:t>TOOL</a:t>
            </a:r>
            <a:endParaRPr lang="en-US" sz="1200" dirty="0"/>
          </a:p>
        </p:txBody>
      </p:sp>
      <p:sp>
        <p:nvSpPr>
          <p:cNvPr id="6" name="Text 4"/>
          <p:cNvSpPr/>
          <p:nvPr/>
        </p:nvSpPr>
        <p:spPr>
          <a:xfrm>
            <a:off x="1066800" y="2410321"/>
            <a:ext cx="3209239"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2EC"/>
                </a:solidFill>
                <a:latin typeface="IBM Plex Sans" pitchFamily="34" charset="0"/>
                <a:ea typeface="IBM Plex Sans" pitchFamily="34" charset="-122"/>
                <a:cs typeface="IBM Plex Sans" pitchFamily="34" charset="-120"/>
              </a:rPr>
              <a:t>Claude</a:t>
            </a:r>
            <a:endParaRPr lang="en-US" sz="1400" dirty="0"/>
          </a:p>
        </p:txBody>
      </p:sp>
      <p:sp>
        <p:nvSpPr>
          <p:cNvPr id="7" name="Shape 5"/>
          <p:cNvSpPr/>
          <p:nvPr/>
        </p:nvSpPr>
        <p:spPr>
          <a:xfrm>
            <a:off x="4639766" y="1841401"/>
            <a:ext cx="6739434" cy="1320602"/>
          </a:xfrm>
          <a:prstGeom prst="roundRect">
            <a:avLst>
              <a:gd name="adj" fmla="val 7693"/>
            </a:avLst>
          </a:prstGeom>
          <a:solidFill>
            <a:srgbClr val="1E2E52"/>
          </a:solidFill>
          <a:ln/>
        </p:spPr>
        <p:txBody>
          <a:bodyPr/>
          <a:lstStyle/>
          <a:p>
            <a:endParaRPr lang="en-US"/>
          </a:p>
        </p:txBody>
      </p:sp>
      <p:sp>
        <p:nvSpPr>
          <p:cNvPr id="8" name="Text 6"/>
          <p:cNvSpPr/>
          <p:nvPr/>
        </p:nvSpPr>
        <p:spPr>
          <a:xfrm>
            <a:off x="4893766" y="2095401"/>
            <a:ext cx="641837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8EE"/>
                </a:solidFill>
                <a:latin typeface="IBM Plex Sans" pitchFamily="34" charset="0"/>
                <a:ea typeface="IBM Plex Sans" pitchFamily="34" charset="-122"/>
                <a:cs typeface="IBM Plex Sans" pitchFamily="34" charset="-120"/>
              </a:rPr>
              <a:t>USED FOR</a:t>
            </a:r>
            <a:endParaRPr lang="en-US" sz="1200" dirty="0"/>
          </a:p>
        </p:txBody>
      </p:sp>
      <p:sp>
        <p:nvSpPr>
          <p:cNvPr id="9" name="Text 7"/>
          <p:cNvSpPr/>
          <p:nvPr/>
        </p:nvSpPr>
        <p:spPr>
          <a:xfrm>
            <a:off x="4893766" y="2410321"/>
            <a:ext cx="641837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2EC"/>
                </a:solidFill>
                <a:latin typeface="IBM Plex Sans" pitchFamily="34" charset="0"/>
                <a:ea typeface="IBM Plex Sans" pitchFamily="34" charset="-122"/>
                <a:cs typeface="IBM Plex Sans" pitchFamily="34" charset="-120"/>
              </a:rPr>
              <a:t>Comparing candidate questions against the rubric, helping write the Python analysis code (pandas, statsmodels) and charts, drafting slide theme</a:t>
            </a:r>
            <a:endParaRPr lang="en-US" sz="1400" dirty="0"/>
          </a:p>
        </p:txBody>
      </p:sp>
      <p:sp>
        <p:nvSpPr>
          <p:cNvPr id="10" name="Shape 8"/>
          <p:cNvSpPr/>
          <p:nvPr/>
        </p:nvSpPr>
        <p:spPr>
          <a:xfrm>
            <a:off x="812800" y="3416002"/>
            <a:ext cx="10566400" cy="1356320"/>
          </a:xfrm>
          <a:prstGeom prst="roundRect">
            <a:avLst>
              <a:gd name="adj" fmla="val 7491"/>
            </a:avLst>
          </a:prstGeom>
          <a:solidFill>
            <a:srgbClr val="1E2E52"/>
          </a:solidFill>
          <a:ln/>
        </p:spPr>
        <p:txBody>
          <a:bodyPr/>
          <a:lstStyle/>
          <a:p>
            <a:endParaRPr lang="en-US"/>
          </a:p>
        </p:txBody>
      </p:sp>
      <p:sp>
        <p:nvSpPr>
          <p:cNvPr id="11" name="Text 9"/>
          <p:cNvSpPr/>
          <p:nvPr/>
        </p:nvSpPr>
        <p:spPr>
          <a:xfrm>
            <a:off x="1066800" y="3670002"/>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8EE"/>
                </a:solidFill>
                <a:latin typeface="IBM Plex Sans" pitchFamily="34" charset="0"/>
                <a:ea typeface="IBM Plex Sans" pitchFamily="34" charset="-122"/>
                <a:cs typeface="IBM Plex Sans" pitchFamily="34" charset="-120"/>
              </a:rPr>
              <a:t>HOW WE VERIFIED</a:t>
            </a:r>
            <a:endParaRPr lang="en-US" sz="1200" dirty="0"/>
          </a:p>
        </p:txBody>
      </p:sp>
      <p:sp>
        <p:nvSpPr>
          <p:cNvPr id="12" name="Text 10"/>
          <p:cNvSpPr/>
          <p:nvPr/>
        </p:nvSpPr>
        <p:spPr>
          <a:xfrm>
            <a:off x="1066800" y="3984923"/>
            <a:ext cx="10360152"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4F2EC"/>
                </a:solidFill>
                <a:latin typeface="IBM Plex Sans" pitchFamily="34" charset="0"/>
                <a:ea typeface="IBM Plex Sans" pitchFamily="34" charset="-122"/>
                <a:cs typeface="IBM Plex Sans" pitchFamily="34" charset="-120"/>
              </a:rPr>
              <a:t>Re-ran the notebook end to end ourselves · Checked each filter’s row count against the raw file · Matched 2024 establishment counts to the raw BLS QCEW files</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4"/>
                </a:solidFill>
                <a:latin typeface="IBM Plex Sans" pitchFamily="34" charset="0"/>
                <a:ea typeface="IBM Plex Sans" pitchFamily="34" charset="-122"/>
                <a:cs typeface="IBM Plex Sans" pitchFamily="34" charset="-120"/>
              </a:rPr>
              <a:t>MSBA 501 · DoD contracts and defense industries · Questions?</a:t>
            </a:r>
            <a:endParaRPr lang="en-US" sz="1200" dirty="0"/>
          </a:p>
        </p:txBody>
      </p:sp>
    </p:spTree>
  </p:cSld>
  <p:clrMapOvr>
    <a:masterClrMapping/>
  </p:clrMapOvr>
</p:sld>
</file>

<file path=ppt/theme/theme1.xml><?xml version="1.0" encoding="utf-8"?>
<a:theme xmlns:a="http://schemas.openxmlformats.org/drawingml/2006/main" name="DoD Dollars &amp; Defense Industries">
  <a:themeElements>
    <a:clrScheme name="DoD Dollars &amp; Defense Industries">
      <a:dk1>
        <a:srgbClr val="14213D"/>
      </a:dk1>
      <a:lt1>
        <a:srgbClr val="F7F5EF"/>
      </a:lt1>
      <a:dk2>
        <a:srgbClr val="4D566A"/>
      </a:dk2>
      <a:lt2>
        <a:srgbClr val="E0E0DD"/>
      </a:lt2>
      <a:accent1>
        <a:srgbClr val="2A63B8"/>
      </a:accent1>
      <a:accent2>
        <a:srgbClr val="8FB8EE"/>
      </a:accent2>
      <a:accent3>
        <a:srgbClr val="B5491D"/>
      </a:accent3>
      <a:accent4>
        <a:srgbClr val="4A5568"/>
      </a:accent4>
      <a:accent5>
        <a:srgbClr val="6B7280"/>
      </a:accent5>
      <a:accent6>
        <a:srgbClr val="C9D3E4"/>
      </a:accent6>
      <a:hlink>
        <a:srgbClr val="0563C1"/>
      </a:hlink>
      <a:folHlink>
        <a:srgbClr val="954F72"/>
      </a:folHlink>
    </a:clrScheme>
    <a:fontScheme name="DoD Dollars &amp; Defense Industries">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2630</Words>
  <Application>Microsoft Macintosh PowerPoint</Application>
  <PresentationFormat>Widescreen</PresentationFormat>
  <Paragraphs>348</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IBM Plex Sans</vt:lpstr>
      <vt:lpstr>Source Serif 4</vt:lpstr>
      <vt:lpstr>DoD Dollars &amp; Defense Industries</vt:lpstr>
      <vt:lpstr>Which defense industries go with more DoD contract dollars?</vt:lpstr>
      <vt:lpstr>Which defense industry should a state target?</vt:lpstr>
      <vt:lpstr>From 3,193 counties to 2,125</vt:lpstr>
      <vt:lpstr>Raw variables are skewed; logs much less so</vt:lpstr>
      <vt:lpstr>So, where does the money flow?</vt:lpstr>
      <vt:lpstr>Raw dollars are extremely skewed, so we model log(DoD $)</vt:lpstr>
      <vt:lpstr>Each industry rises roughly linearly with log(DoD $)</vt:lpstr>
      <vt:lpstr>Metro status and region shift DoD $, so both enter as dummies</vt:lpstr>
      <vt:lpstr>Aerospace and R&amp;D have the largest effects</vt:lpstr>
      <vt:lpstr>What each coefficient means in dollars</vt:lpstr>
      <vt:lpstr>Half the variation explained; spread is uneven</vt:lpstr>
      <vt:lpstr>For a typical county, one aerospace firm goes with the biggest jump</vt:lpstr>
      <vt:lpstr>Prioritize aerospace or R&amp;D; shipbuilding trails</vt:lpstr>
      <vt:lpstr>What this analysis cannot support</vt:lpstr>
      <vt:lpstr>How we used AI, and how we checked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DoD Dollars &amp; Defense Industries</dc:title>
  <dc:subject/>
  <dc:creator/>
  <cp:lastModifiedBy>Andrew Massa</cp:lastModifiedBy>
  <cp:revision>1</cp:revision>
  <dcterms:created xsi:type="dcterms:W3CDTF">2026-10-22T05:46:09Z</dcterms:created>
  <dcterms:modified xsi:type="dcterms:W3CDTF">2026-10-22T15:43:54Z</dcterms:modified>
</cp:coreProperties>
</file>